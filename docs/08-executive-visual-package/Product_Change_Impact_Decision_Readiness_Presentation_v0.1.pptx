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4AA13193-5840-4990-AED7-6EB371A822C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8DCFCBD0-028A-412F-82AA-517B6CBB79E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502920" y="6473880"/>
            <a:ext cx="11183040" cy="360"/>
          </a:xfrm>
          <a:prstGeom prst="line">
            <a:avLst/>
          </a:prstGeom>
          <a:ln w="10080">
            <a:solidFill>
              <a:srgbClr val="D6DE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 1"/>
          <p:cNvSpPr/>
          <p:nvPr/>
        </p:nvSpPr>
        <p:spPr>
          <a:xfrm>
            <a:off x="530280" y="6510600"/>
            <a:ext cx="6034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Product Change Impact Assessment &amp; Decision Readiness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 2"/>
          <p:cNvSpPr/>
          <p:nvPr/>
        </p:nvSpPr>
        <p:spPr>
          <a:xfrm>
            <a:off x="6400800" y="6510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Public-safe synthetic PLM reference case · v0.1.0 release candidate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201400" y="6501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F933824-3688-4CA6-AA63-FED4FC0D5D93}" type="slidenum">
              <a: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Click to edit the title text format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mdrFALCO/plm-change-impact-reference-case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1F7A7A"/>
          </a:solidFill>
          <a:ln w="12600">
            <a:solidFill>
              <a:srgbClr val="1F7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713160" y="50292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PUBLIC-SAFE PLM BUSINESS ARCHITECTURE REFERENCE CASE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713160" y="914400"/>
            <a:ext cx="672048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Product Change Impact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Assessment &amp; Decision Readiness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749880" y="2487240"/>
            <a:ext cx="653760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 dirty="0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A product change becomes decision-ready only when current state, proposal, discovered impacts, domain conclusions, evidence, decision scope and authority are kept separate, and linked by deterministic, case-local and historically </a:t>
            </a:r>
            <a:r>
              <a:rPr lang="en-US" sz="1800" b="0" i="1" u="none" strike="noStrike" dirty="0" err="1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reconstructable</a:t>
            </a:r>
            <a:r>
              <a:rPr lang="en-US" sz="1800" b="0" i="1" u="none" strike="noStrike" dirty="0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 rules.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749880" y="4160520"/>
            <a:ext cx="5943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Architecture first. Prototype as proof.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749880" y="4572000"/>
            <a:ext cx="63090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The implementation exists to test whether the frozen business, information and decision semantics execute without semantic shortcuts. 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7909560" y="777240"/>
            <a:ext cx="3565800" cy="5120280"/>
          </a:xfrm>
          <a:prstGeom prst="roundRect">
            <a:avLst>
              <a:gd name="adj" fmla="val 2051"/>
            </a:avLst>
          </a:prstGeom>
          <a:solidFill>
            <a:srgbClr val="F5F7F9"/>
          </a:solidFill>
          <a:ln w="12600">
            <a:solidFill>
              <a:srgbClr val="C9D3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8183880" y="102420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ONE COHERENT CHAIN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8385120" y="1463040"/>
            <a:ext cx="2614680" cy="804240"/>
          </a:xfrm>
          <a:prstGeom prst="roundRect">
            <a:avLst>
              <a:gd name="adj" fmla="val 9091"/>
            </a:avLst>
          </a:prstGeom>
          <a:solidFill>
            <a:srgbClr val="EAF1F5"/>
          </a:solidFill>
          <a:ln w="12600">
            <a:solidFill>
              <a:srgbClr val="C5D6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8568000" y="1581840"/>
            <a:ext cx="2248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3B6F8F"/>
                </a:solidFill>
                <a:effectLst/>
                <a:uFillTx/>
                <a:latin typeface="Lato"/>
                <a:ea typeface="Lato"/>
              </a:rPr>
              <a:t>BUSINESS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8531280" y="1828800"/>
            <a:ext cx="2322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Capability &amp; process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1"/>
          <p:cNvSpPr/>
          <p:nvPr/>
        </p:nvSpPr>
        <p:spPr>
          <a:xfrm>
            <a:off x="9692640" y="2286000"/>
            <a:ext cx="0" cy="237600"/>
          </a:xfrm>
          <a:prstGeom prst="line">
            <a:avLst/>
          </a:prstGeom>
          <a:ln w="1512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2"/>
          <p:cNvSpPr/>
          <p:nvPr/>
        </p:nvSpPr>
        <p:spPr>
          <a:xfrm>
            <a:off x="8385120" y="2523600"/>
            <a:ext cx="2614680" cy="804240"/>
          </a:xfrm>
          <a:prstGeom prst="roundRect">
            <a:avLst>
              <a:gd name="adj" fmla="val 9091"/>
            </a:avLst>
          </a:prstGeom>
          <a:solidFill>
            <a:srgbClr val="EAF1F5"/>
          </a:solidFill>
          <a:ln w="12600">
            <a:solidFill>
              <a:srgbClr val="C5D6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8568000" y="2642760"/>
            <a:ext cx="2248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3B6F8F"/>
                </a:solidFill>
                <a:effectLst/>
                <a:uFillTx/>
                <a:latin typeface="Lato"/>
                <a:ea typeface="Lato"/>
              </a:rPr>
              <a:t>INFORMATION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8531280" y="2889360"/>
            <a:ext cx="2322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State, scope &amp; lineage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5"/>
          <p:cNvSpPr/>
          <p:nvPr/>
        </p:nvSpPr>
        <p:spPr>
          <a:xfrm>
            <a:off x="9692640" y="3346560"/>
            <a:ext cx="0" cy="223410"/>
          </a:xfrm>
          <a:prstGeom prst="line">
            <a:avLst/>
          </a:prstGeom>
          <a:ln w="1512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6"/>
          <p:cNvSpPr/>
          <p:nvPr/>
        </p:nvSpPr>
        <p:spPr>
          <a:xfrm>
            <a:off x="8385120" y="3584520"/>
            <a:ext cx="2614680" cy="804240"/>
          </a:xfrm>
          <a:prstGeom prst="roundRect">
            <a:avLst>
              <a:gd name="adj" fmla="val 9091"/>
            </a:avLst>
          </a:prstGeom>
          <a:solidFill>
            <a:srgbClr val="EAF1F5"/>
          </a:solidFill>
          <a:ln w="12600">
            <a:solidFill>
              <a:srgbClr val="C5D6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7"/>
          <p:cNvSpPr/>
          <p:nvPr/>
        </p:nvSpPr>
        <p:spPr>
          <a:xfrm>
            <a:off x="8568000" y="3703320"/>
            <a:ext cx="2248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3B6F8F"/>
                </a:solidFill>
                <a:effectLst/>
                <a:uFillTx/>
                <a:latin typeface="Lato"/>
                <a:ea typeface="Lato"/>
              </a:rPr>
              <a:t>DECISION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8"/>
          <p:cNvSpPr/>
          <p:nvPr/>
        </p:nvSpPr>
        <p:spPr>
          <a:xfrm>
            <a:off x="8531280" y="3950280"/>
            <a:ext cx="2322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Readiness, eligibility &amp; authority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9"/>
          <p:cNvSpPr/>
          <p:nvPr/>
        </p:nvSpPr>
        <p:spPr>
          <a:xfrm>
            <a:off x="9692640" y="4407120"/>
            <a:ext cx="0" cy="222030"/>
          </a:xfrm>
          <a:prstGeom prst="line">
            <a:avLst/>
          </a:prstGeom>
          <a:ln w="1512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0"/>
          <p:cNvSpPr/>
          <p:nvPr/>
        </p:nvSpPr>
        <p:spPr>
          <a:xfrm>
            <a:off x="8385120" y="4645080"/>
            <a:ext cx="2614680" cy="804240"/>
          </a:xfrm>
          <a:prstGeom prst="roundRect">
            <a:avLst>
              <a:gd name="adj" fmla="val 9091"/>
            </a:avLst>
          </a:prstGeom>
          <a:solidFill>
            <a:srgbClr val="E5F1F0"/>
          </a:solidFill>
          <a:ln w="12600">
            <a:solidFill>
              <a:srgbClr val="BBD6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1"/>
          <p:cNvSpPr/>
          <p:nvPr/>
        </p:nvSpPr>
        <p:spPr>
          <a:xfrm>
            <a:off x="8568000" y="4763880"/>
            <a:ext cx="2248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ASSURANCE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2"/>
          <p:cNvSpPr/>
          <p:nvPr/>
        </p:nvSpPr>
        <p:spPr>
          <a:xfrm>
            <a:off x="8531280" y="5010840"/>
            <a:ext cx="2322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Gates, oracles &amp; evidence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3"/>
          <p:cNvSpPr/>
          <p:nvPr/>
        </p:nvSpPr>
        <p:spPr>
          <a:xfrm>
            <a:off x="749880" y="5870520"/>
            <a:ext cx="6949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Cristian Leu · </a:t>
            </a:r>
            <a:r>
              <a:rPr lang="en-US" sz="900" b="0" u="none" strike="noStrike" dirty="0">
                <a:solidFill>
                  <a:srgbClr val="60717E"/>
                </a:solidFill>
                <a:effectLst/>
                <a:uFillTx/>
                <a:latin typeface="Lato"/>
                <a:ea typeface="Lato"/>
                <a:hlinkClick r:id="rId2"/>
              </a:rPr>
              <a:t>github.com/CmdrFALCO/</a:t>
            </a:r>
            <a:r>
              <a:rPr lang="en-US" sz="900" b="0" u="none" strike="noStrike" dirty="0" err="1">
                <a:solidFill>
                  <a:srgbClr val="60717E"/>
                </a:solidFill>
                <a:effectLst/>
                <a:uFillTx/>
                <a:latin typeface="Lato"/>
                <a:ea typeface="Lato"/>
                <a:hlinkClick r:id="rId2"/>
              </a:rPr>
              <a:t>plm</a:t>
            </a:r>
            <a:r>
              <a:rPr lang="en-US" sz="900" b="0" u="none" strike="noStrike" dirty="0">
                <a:solidFill>
                  <a:srgbClr val="60717E"/>
                </a:solidFill>
                <a:effectLst/>
                <a:uFillTx/>
                <a:latin typeface="Lato"/>
                <a:ea typeface="Lato"/>
                <a:hlinkClick r:id="rId2"/>
              </a:rPr>
              <a:t>-change-impact-reference-case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sldNum" idx="5"/>
          </p:nvPr>
        </p:nvSpPr>
        <p:spPr>
          <a:xfrm>
            <a:off x="11201400" y="6501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967BEB8-0D50-47DF-A968-08813F3F8F75}" type="slidenum">
              <a: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1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530280" y="25596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139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PROBLEM FRAMING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530280" y="48456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Why Revision A -&gt; Revision B is insufficient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530280" y="1042200"/>
            <a:ext cx="11109960" cy="360"/>
          </a:xfrm>
          <a:prstGeom prst="line">
            <a:avLst/>
          </a:prstGeom>
          <a:ln w="12600">
            <a:solidFill>
              <a:srgbClr val="C9D3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530280" y="1207080"/>
            <a:ext cx="11109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Revision succession records a relationship between two states. It does not identify the complete basis that was evaluated or authorised.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4"/>
          <p:cNvSpPr/>
          <p:nvPr/>
        </p:nvSpPr>
        <p:spPr>
          <a:xfrm>
            <a:off x="658440" y="1874520"/>
            <a:ext cx="3702960" cy="3611520"/>
          </a:xfrm>
          <a:prstGeom prst="roundRect">
            <a:avLst>
              <a:gd name="adj" fmla="val 2025"/>
            </a:avLst>
          </a:prstGeom>
          <a:solidFill>
            <a:srgbClr val="F5F7F9"/>
          </a:solidFill>
          <a:ln w="12600">
            <a:solidFill>
              <a:srgbClr val="C9D3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1024200" y="2816280"/>
            <a:ext cx="9597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A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932760" y="369432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Revision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7"/>
          <p:cNvSpPr/>
          <p:nvPr/>
        </p:nvSpPr>
        <p:spPr>
          <a:xfrm>
            <a:off x="1933575" y="3278506"/>
            <a:ext cx="1056585" cy="0"/>
          </a:xfrm>
          <a:prstGeom prst="line">
            <a:avLst/>
          </a:prstGeom>
          <a:ln w="33120">
            <a:solidFill>
              <a:srgbClr val="1F7A7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2990160" y="2816280"/>
            <a:ext cx="9597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B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9"/>
          <p:cNvSpPr/>
          <p:nvPr/>
        </p:nvSpPr>
        <p:spPr>
          <a:xfrm>
            <a:off x="2898720" y="369432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Revision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0"/>
          <p:cNvSpPr/>
          <p:nvPr/>
        </p:nvSpPr>
        <p:spPr>
          <a:xfrm>
            <a:off x="1353240" y="4754880"/>
            <a:ext cx="2340360" cy="383760"/>
          </a:xfrm>
          <a:prstGeom prst="roundRect">
            <a:avLst>
              <a:gd name="adj" fmla="val 16667"/>
            </a:avLst>
          </a:prstGeom>
          <a:solidFill>
            <a:srgbClr val="E5F1F0"/>
          </a:solidFill>
          <a:ln w="10080">
            <a:solidFill>
              <a:srgbClr val="BBD6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1408320" y="4782240"/>
            <a:ext cx="22309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Succession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2"/>
          <p:cNvSpPr/>
          <p:nvPr/>
        </p:nvSpPr>
        <p:spPr>
          <a:xfrm>
            <a:off x="4709160" y="1874520"/>
            <a:ext cx="6839280" cy="3611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600">
            <a:solidFill>
              <a:srgbClr val="C9D3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5010840" y="2103120"/>
            <a:ext cx="6263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The missing decision basis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4"/>
          <p:cNvSpPr/>
          <p:nvPr/>
        </p:nvSpPr>
        <p:spPr>
          <a:xfrm>
            <a:off x="5010840" y="2606040"/>
            <a:ext cx="2880000" cy="511560"/>
          </a:xfrm>
          <a:prstGeom prst="roundRect">
            <a:avLst>
              <a:gd name="adj" fmla="val 14286"/>
            </a:avLst>
          </a:prstGeom>
          <a:solidFill>
            <a:srgbClr val="EAF1F5"/>
          </a:solidFill>
          <a:ln w="12600">
            <a:solidFill>
              <a:srgbClr val="D0DD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5"/>
          <p:cNvSpPr/>
          <p:nvPr/>
        </p:nvSpPr>
        <p:spPr>
          <a:xfrm>
            <a:off x="5129640" y="2679120"/>
            <a:ext cx="2614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Evaluated current state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6"/>
          <p:cNvSpPr/>
          <p:nvPr/>
        </p:nvSpPr>
        <p:spPr>
          <a:xfrm>
            <a:off x="5129640" y="2871360"/>
            <a:ext cx="2614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exact baseline snapshots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7"/>
          <p:cNvSpPr/>
          <p:nvPr/>
        </p:nvSpPr>
        <p:spPr>
          <a:xfrm>
            <a:off x="8138160" y="2606040"/>
            <a:ext cx="2880000" cy="511560"/>
          </a:xfrm>
          <a:prstGeom prst="roundRect">
            <a:avLst>
              <a:gd name="adj" fmla="val 14286"/>
            </a:avLst>
          </a:prstGeom>
          <a:solidFill>
            <a:srgbClr val="EAF1F5"/>
          </a:solidFill>
          <a:ln w="12600">
            <a:solidFill>
              <a:srgbClr val="D0DD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8"/>
          <p:cNvSpPr/>
          <p:nvPr/>
        </p:nvSpPr>
        <p:spPr>
          <a:xfrm>
            <a:off x="8256960" y="2679120"/>
            <a:ext cx="2614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Configuration &amp; usage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9"/>
          <p:cNvSpPr/>
          <p:nvPr/>
        </p:nvSpPr>
        <p:spPr>
          <a:xfrm>
            <a:off x="8256960" y="2871360"/>
            <a:ext cx="2614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applicability and effectivity context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0"/>
          <p:cNvSpPr/>
          <p:nvPr/>
        </p:nvSpPr>
        <p:spPr>
          <a:xfrm>
            <a:off x="5010840" y="3264480"/>
            <a:ext cx="2880000" cy="511560"/>
          </a:xfrm>
          <a:prstGeom prst="roundRect">
            <a:avLst>
              <a:gd name="adj" fmla="val 14286"/>
            </a:avLst>
          </a:prstGeom>
          <a:solidFill>
            <a:srgbClr val="EAF1F5"/>
          </a:solidFill>
          <a:ln w="12600">
            <a:solidFill>
              <a:srgbClr val="D0DD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1"/>
          <p:cNvSpPr/>
          <p:nvPr/>
        </p:nvSpPr>
        <p:spPr>
          <a:xfrm>
            <a:off x="5129640" y="3337560"/>
            <a:ext cx="2614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Proposed Change Scope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2"/>
          <p:cNvSpPr/>
          <p:nvPr/>
        </p:nvSpPr>
        <p:spPr>
          <a:xfrm>
            <a:off x="5129640" y="3529440"/>
            <a:ext cx="2614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exact Change Item revisions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3"/>
          <p:cNvSpPr/>
          <p:nvPr/>
        </p:nvSpPr>
        <p:spPr>
          <a:xfrm>
            <a:off x="8138160" y="3264480"/>
            <a:ext cx="2880000" cy="511560"/>
          </a:xfrm>
          <a:prstGeom prst="roundRect">
            <a:avLst>
              <a:gd name="adj" fmla="val 14286"/>
            </a:avLst>
          </a:prstGeom>
          <a:solidFill>
            <a:srgbClr val="EAF1F5"/>
          </a:solidFill>
          <a:ln w="12600">
            <a:solidFill>
              <a:srgbClr val="D0DD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4"/>
          <p:cNvSpPr/>
          <p:nvPr/>
        </p:nvSpPr>
        <p:spPr>
          <a:xfrm>
            <a:off x="8256960" y="3337560"/>
            <a:ext cx="2614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Impact provenance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5"/>
          <p:cNvSpPr/>
          <p:nvPr/>
        </p:nvSpPr>
        <p:spPr>
          <a:xfrm>
            <a:off x="8256960" y="3529440"/>
            <a:ext cx="2614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what may be affected and why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6"/>
          <p:cNvSpPr/>
          <p:nvPr/>
        </p:nvSpPr>
        <p:spPr>
          <a:xfrm>
            <a:off x="5010840" y="3922920"/>
            <a:ext cx="2880000" cy="511560"/>
          </a:xfrm>
          <a:prstGeom prst="roundRect">
            <a:avLst>
              <a:gd name="adj" fmla="val 14286"/>
            </a:avLst>
          </a:prstGeom>
          <a:solidFill>
            <a:srgbClr val="E5F1F0"/>
          </a:solidFill>
          <a:ln w="12600">
            <a:solidFill>
              <a:srgbClr val="C9DE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7"/>
          <p:cNvSpPr/>
          <p:nvPr/>
        </p:nvSpPr>
        <p:spPr>
          <a:xfrm>
            <a:off x="5129640" y="3996000"/>
            <a:ext cx="2614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Assessments &amp; Evidence Uses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8"/>
          <p:cNvSpPr/>
          <p:nvPr/>
        </p:nvSpPr>
        <p:spPr>
          <a:xfrm>
            <a:off x="5129640" y="4187880"/>
            <a:ext cx="2614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who concluded what, using which state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9"/>
          <p:cNvSpPr/>
          <p:nvPr/>
        </p:nvSpPr>
        <p:spPr>
          <a:xfrm>
            <a:off x="8138160" y="3922920"/>
            <a:ext cx="2880000" cy="511560"/>
          </a:xfrm>
          <a:prstGeom prst="roundRect">
            <a:avLst>
              <a:gd name="adj" fmla="val 14286"/>
            </a:avLst>
          </a:prstGeom>
          <a:solidFill>
            <a:srgbClr val="E5F1F0"/>
          </a:solidFill>
          <a:ln w="12600">
            <a:solidFill>
              <a:srgbClr val="C9DE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0"/>
          <p:cNvSpPr/>
          <p:nvPr/>
        </p:nvSpPr>
        <p:spPr>
          <a:xfrm>
            <a:off x="8256960" y="3996000"/>
            <a:ext cx="2614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Open Items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1"/>
          <p:cNvSpPr/>
          <p:nvPr/>
        </p:nvSpPr>
        <p:spPr>
          <a:xfrm>
            <a:off x="8256960" y="4187880"/>
            <a:ext cx="2614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what still blocks decision readiness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2"/>
          <p:cNvSpPr/>
          <p:nvPr/>
        </p:nvSpPr>
        <p:spPr>
          <a:xfrm>
            <a:off x="5010840" y="4581000"/>
            <a:ext cx="2880000" cy="511560"/>
          </a:xfrm>
          <a:prstGeom prst="roundRect">
            <a:avLst>
              <a:gd name="adj" fmla="val 14286"/>
            </a:avLst>
          </a:prstGeom>
          <a:solidFill>
            <a:srgbClr val="E5F1F0"/>
          </a:solidFill>
          <a:ln w="12600">
            <a:solidFill>
              <a:srgbClr val="C9DE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3"/>
          <p:cNvSpPr/>
          <p:nvPr/>
        </p:nvSpPr>
        <p:spPr>
          <a:xfrm>
            <a:off x="5129640" y="4654440"/>
            <a:ext cx="2614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Authority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4"/>
          <p:cNvSpPr/>
          <p:nvPr/>
        </p:nvSpPr>
        <p:spPr>
          <a:xfrm>
            <a:off x="5129640" y="4846320"/>
            <a:ext cx="2614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required vs current level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5"/>
          <p:cNvSpPr/>
          <p:nvPr/>
        </p:nvSpPr>
        <p:spPr>
          <a:xfrm>
            <a:off x="8138160" y="4581000"/>
            <a:ext cx="2880000" cy="511560"/>
          </a:xfrm>
          <a:prstGeom prst="roundRect">
            <a:avLst>
              <a:gd name="adj" fmla="val 14286"/>
            </a:avLst>
          </a:prstGeom>
          <a:solidFill>
            <a:srgbClr val="E5F1F0"/>
          </a:solidFill>
          <a:ln w="12600">
            <a:solidFill>
              <a:srgbClr val="C9DE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6"/>
          <p:cNvSpPr/>
          <p:nvPr/>
        </p:nvSpPr>
        <p:spPr>
          <a:xfrm>
            <a:off x="8256960" y="4654440"/>
            <a:ext cx="2614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Decision Scope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7"/>
          <p:cNvSpPr/>
          <p:nvPr/>
        </p:nvSpPr>
        <p:spPr>
          <a:xfrm>
            <a:off x="8256960" y="4846320"/>
            <a:ext cx="2614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what is actually disposed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8"/>
          <p:cNvSpPr/>
          <p:nvPr/>
        </p:nvSpPr>
        <p:spPr>
          <a:xfrm>
            <a:off x="694800" y="5715000"/>
            <a:ext cx="10789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Revision succession is useful, but it is not a decision basis.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sldNum" idx="6"/>
          </p:nvPr>
        </p:nvSpPr>
        <p:spPr>
          <a:xfrm>
            <a:off x="11201400" y="6501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39BEF5C-9E68-404C-A5C9-A97165E6B545}" type="slidenum">
              <a: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2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530280" y="25596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139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BOUNDARY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530280" y="48456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Bounded capability and public-safe scope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530280" y="1042200"/>
            <a:ext cx="11109960" cy="360"/>
          </a:xfrm>
          <a:prstGeom prst="line">
            <a:avLst/>
          </a:prstGeom>
          <a:ln w="12600">
            <a:solidFill>
              <a:srgbClr val="C9D3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530280" y="1188720"/>
            <a:ext cx="11109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The reference case is deliberately narrow: enough scope to make decision readiness explicit, but no downstream implementation or company-specific fidelity claim.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4"/>
          <p:cNvSpPr/>
          <p:nvPr/>
        </p:nvSpPr>
        <p:spPr>
          <a:xfrm>
            <a:off x="658440" y="1874520"/>
            <a:ext cx="2331360" cy="2422800"/>
          </a:xfrm>
          <a:prstGeom prst="roundRect">
            <a:avLst>
              <a:gd name="adj" fmla="val 3137"/>
            </a:avLst>
          </a:prstGeom>
          <a:solidFill>
            <a:srgbClr val="EAF1F5"/>
          </a:solidFill>
          <a:ln w="12600">
            <a:solidFill>
              <a:srgbClr val="CAD9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5"/>
          <p:cNvSpPr/>
          <p:nvPr/>
        </p:nvSpPr>
        <p:spPr>
          <a:xfrm>
            <a:off x="1225440" y="2103120"/>
            <a:ext cx="1188360" cy="328680"/>
          </a:xfrm>
          <a:prstGeom prst="roundRect">
            <a:avLst>
              <a:gd name="adj" fmla="val 16667"/>
            </a:avLst>
          </a:prstGeom>
          <a:solidFill>
            <a:srgbClr val="3B6F8F"/>
          </a:solidFill>
          <a:ln w="10080">
            <a:solidFill>
              <a:srgbClr val="3B6F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1280160" y="2130480"/>
            <a:ext cx="1078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START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896040" y="2670120"/>
            <a:ext cx="18468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Documented change need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914400" y="3246120"/>
            <a:ext cx="18100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and at least one identifiable Change Item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9"/>
          <p:cNvSpPr/>
          <p:nvPr/>
        </p:nvSpPr>
        <p:spPr>
          <a:xfrm flipV="1">
            <a:off x="2989800" y="3090060"/>
            <a:ext cx="502920" cy="0"/>
          </a:xfrm>
          <a:prstGeom prst="line">
            <a:avLst/>
          </a:prstGeom>
          <a:ln w="25560">
            <a:solidFill>
              <a:srgbClr val="1F7A7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0"/>
          <p:cNvSpPr/>
          <p:nvPr/>
        </p:nvSpPr>
        <p:spPr>
          <a:xfrm>
            <a:off x="3493080" y="1783080"/>
            <a:ext cx="5257440" cy="2614680"/>
          </a:xfrm>
          <a:prstGeom prst="roundRect">
            <a:avLst>
              <a:gd name="adj" fmla="val 2797"/>
            </a:avLst>
          </a:prstGeom>
          <a:solidFill>
            <a:srgbClr val="E5F1F0"/>
          </a:solidFill>
          <a:ln w="12600">
            <a:solidFill>
              <a:srgbClr val="BDD9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1"/>
          <p:cNvSpPr/>
          <p:nvPr/>
        </p:nvSpPr>
        <p:spPr>
          <a:xfrm>
            <a:off x="4992480" y="2011680"/>
            <a:ext cx="2248920" cy="328680"/>
          </a:xfrm>
          <a:prstGeom prst="roundRect">
            <a:avLst>
              <a:gd name="adj" fmla="val 16667"/>
            </a:avLst>
          </a:prstGeom>
          <a:solidFill>
            <a:srgbClr val="1F7A7A"/>
          </a:solidFill>
          <a:ln w="10080">
            <a:solidFill>
              <a:srgbClr val="1F7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5047560" y="2039040"/>
            <a:ext cx="2139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BOUNDED CAPABILITY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3"/>
          <p:cNvSpPr/>
          <p:nvPr/>
        </p:nvSpPr>
        <p:spPr>
          <a:xfrm>
            <a:off x="3794760" y="2633400"/>
            <a:ext cx="1032840" cy="49356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600">
            <a:solidFill>
              <a:srgbClr val="C6DD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4"/>
          <p:cNvSpPr/>
          <p:nvPr/>
        </p:nvSpPr>
        <p:spPr>
          <a:xfrm>
            <a:off x="3840480" y="2670120"/>
            <a:ext cx="9414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Define Change Case &amp; Change Items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5"/>
          <p:cNvSpPr/>
          <p:nvPr/>
        </p:nvSpPr>
        <p:spPr>
          <a:xfrm>
            <a:off x="4827960" y="2880360"/>
            <a:ext cx="155520" cy="0"/>
          </a:xfrm>
          <a:prstGeom prst="line">
            <a:avLst/>
          </a:prstGeom>
          <a:ln w="1260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6"/>
          <p:cNvSpPr/>
          <p:nvPr/>
        </p:nvSpPr>
        <p:spPr>
          <a:xfrm>
            <a:off x="4983480" y="2633400"/>
            <a:ext cx="1032840" cy="49356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600">
            <a:solidFill>
              <a:srgbClr val="C6DD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7"/>
          <p:cNvSpPr/>
          <p:nvPr/>
        </p:nvSpPr>
        <p:spPr>
          <a:xfrm>
            <a:off x="5029200" y="2670120"/>
            <a:ext cx="9414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Gate 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8"/>
          <p:cNvSpPr/>
          <p:nvPr/>
        </p:nvSpPr>
        <p:spPr>
          <a:xfrm>
            <a:off x="6016680" y="2880360"/>
            <a:ext cx="155160" cy="0"/>
          </a:xfrm>
          <a:prstGeom prst="line">
            <a:avLst/>
          </a:prstGeom>
          <a:ln w="1260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9"/>
          <p:cNvSpPr/>
          <p:nvPr/>
        </p:nvSpPr>
        <p:spPr>
          <a:xfrm>
            <a:off x="6172200" y="2633400"/>
            <a:ext cx="1032840" cy="49356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600">
            <a:solidFill>
              <a:srgbClr val="C6DD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0"/>
          <p:cNvSpPr/>
          <p:nvPr/>
        </p:nvSpPr>
        <p:spPr>
          <a:xfrm>
            <a:off x="6217920" y="2670120"/>
            <a:ext cx="9414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Assessment Baseline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1"/>
          <p:cNvSpPr/>
          <p:nvPr/>
        </p:nvSpPr>
        <p:spPr>
          <a:xfrm>
            <a:off x="7205400" y="2880360"/>
            <a:ext cx="155520" cy="0"/>
          </a:xfrm>
          <a:prstGeom prst="line">
            <a:avLst/>
          </a:prstGeom>
          <a:ln w="1260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2"/>
          <p:cNvSpPr/>
          <p:nvPr/>
        </p:nvSpPr>
        <p:spPr>
          <a:xfrm>
            <a:off x="7360920" y="2633400"/>
            <a:ext cx="1032840" cy="49356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600">
            <a:solidFill>
              <a:srgbClr val="C6DD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3"/>
          <p:cNvSpPr/>
          <p:nvPr/>
        </p:nvSpPr>
        <p:spPr>
          <a:xfrm>
            <a:off x="7406640" y="2670120"/>
            <a:ext cx="9414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Overlay Revision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4"/>
          <p:cNvSpPr/>
          <p:nvPr/>
        </p:nvSpPr>
        <p:spPr>
          <a:xfrm>
            <a:off x="3794760" y="3310200"/>
            <a:ext cx="1032840" cy="49356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600">
            <a:solidFill>
              <a:srgbClr val="C6DD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5"/>
          <p:cNvSpPr/>
          <p:nvPr/>
        </p:nvSpPr>
        <p:spPr>
          <a:xfrm>
            <a:off x="3840480" y="3346560"/>
            <a:ext cx="9414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Impact analysis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6"/>
          <p:cNvSpPr/>
          <p:nvPr/>
        </p:nvSpPr>
        <p:spPr>
          <a:xfrm flipV="1">
            <a:off x="4827960" y="3543300"/>
            <a:ext cx="164520" cy="13500"/>
          </a:xfrm>
          <a:prstGeom prst="line">
            <a:avLst/>
          </a:prstGeom>
          <a:ln w="1260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7"/>
          <p:cNvSpPr/>
          <p:nvPr/>
        </p:nvSpPr>
        <p:spPr>
          <a:xfrm>
            <a:off x="4983480" y="3310200"/>
            <a:ext cx="1032840" cy="49356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600">
            <a:solidFill>
              <a:srgbClr val="C6DD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8"/>
          <p:cNvSpPr/>
          <p:nvPr/>
        </p:nvSpPr>
        <p:spPr>
          <a:xfrm>
            <a:off x="5029200" y="3346560"/>
            <a:ext cx="9414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Assessments &amp; Evidence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9"/>
          <p:cNvSpPr/>
          <p:nvPr/>
        </p:nvSpPr>
        <p:spPr>
          <a:xfrm flipV="1">
            <a:off x="6016680" y="3556440"/>
            <a:ext cx="155160" cy="360"/>
          </a:xfrm>
          <a:prstGeom prst="line">
            <a:avLst/>
          </a:prstGeom>
          <a:ln w="1260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30"/>
          <p:cNvSpPr/>
          <p:nvPr/>
        </p:nvSpPr>
        <p:spPr>
          <a:xfrm>
            <a:off x="6172200" y="3310200"/>
            <a:ext cx="1032840" cy="49356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600">
            <a:solidFill>
              <a:srgbClr val="C6DD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1"/>
          <p:cNvSpPr/>
          <p:nvPr/>
        </p:nvSpPr>
        <p:spPr>
          <a:xfrm>
            <a:off x="6217920" y="3346560"/>
            <a:ext cx="9414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Gate B / Eligibility / Authority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32"/>
          <p:cNvSpPr/>
          <p:nvPr/>
        </p:nvSpPr>
        <p:spPr>
          <a:xfrm flipV="1">
            <a:off x="7205399" y="3556440"/>
            <a:ext cx="155519" cy="360"/>
          </a:xfrm>
          <a:prstGeom prst="line">
            <a:avLst/>
          </a:prstGeom>
          <a:ln w="1260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33"/>
          <p:cNvSpPr/>
          <p:nvPr/>
        </p:nvSpPr>
        <p:spPr>
          <a:xfrm>
            <a:off x="7360920" y="3310200"/>
            <a:ext cx="1032840" cy="49356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600">
            <a:solidFill>
              <a:srgbClr val="C6DD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4"/>
          <p:cNvSpPr/>
          <p:nvPr/>
        </p:nvSpPr>
        <p:spPr>
          <a:xfrm>
            <a:off x="7406640" y="3346560"/>
            <a:ext cx="9414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Decision or routing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5"/>
          <p:cNvSpPr/>
          <p:nvPr/>
        </p:nvSpPr>
        <p:spPr>
          <a:xfrm>
            <a:off x="8750520" y="3090060"/>
            <a:ext cx="503280" cy="180"/>
          </a:xfrm>
          <a:prstGeom prst="line">
            <a:avLst/>
          </a:prstGeom>
          <a:ln w="25560">
            <a:solidFill>
              <a:srgbClr val="1F7A7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6"/>
          <p:cNvSpPr/>
          <p:nvPr/>
        </p:nvSpPr>
        <p:spPr>
          <a:xfrm>
            <a:off x="9253800" y="1874520"/>
            <a:ext cx="2267280" cy="2422800"/>
          </a:xfrm>
          <a:prstGeom prst="roundRect">
            <a:avLst>
              <a:gd name="adj" fmla="val 3226"/>
            </a:avLst>
          </a:prstGeom>
          <a:solidFill>
            <a:srgbClr val="E8F1EB"/>
          </a:solidFill>
          <a:ln w="12600">
            <a:solidFill>
              <a:srgbClr val="C8DCC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7"/>
          <p:cNvSpPr/>
          <p:nvPr/>
        </p:nvSpPr>
        <p:spPr>
          <a:xfrm>
            <a:off x="9765720" y="2103120"/>
            <a:ext cx="1243080" cy="328680"/>
          </a:xfrm>
          <a:prstGeom prst="roundRect">
            <a:avLst>
              <a:gd name="adj" fmla="val 16667"/>
            </a:avLst>
          </a:prstGeom>
          <a:solidFill>
            <a:srgbClr val="3F7D5A"/>
          </a:solidFill>
          <a:ln w="10080">
            <a:solidFill>
              <a:srgbClr val="3F7D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8"/>
          <p:cNvSpPr/>
          <p:nvPr/>
        </p:nvSpPr>
        <p:spPr>
          <a:xfrm>
            <a:off x="9820800" y="2130480"/>
            <a:ext cx="1133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OUTPUT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9"/>
          <p:cNvSpPr/>
          <p:nvPr/>
        </p:nvSpPr>
        <p:spPr>
          <a:xfrm>
            <a:off x="9528120" y="2697480"/>
            <a:ext cx="1718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Decision Record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0"/>
          <p:cNvSpPr/>
          <p:nvPr/>
        </p:nvSpPr>
        <p:spPr>
          <a:xfrm>
            <a:off x="9491400" y="3090600"/>
            <a:ext cx="17827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or auditable Process-history Entry at a frozen scenario stop point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41"/>
          <p:cNvSpPr/>
          <p:nvPr/>
        </p:nvSpPr>
        <p:spPr>
          <a:xfrm>
            <a:off x="9491400" y="3803760"/>
            <a:ext cx="1782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trike="noStrike">
                <a:solidFill>
                  <a:srgbClr val="3F7D5A"/>
                </a:solidFill>
                <a:effectLst/>
                <a:uFillTx/>
                <a:latin typeface="Lato"/>
                <a:ea typeface="Lato"/>
              </a:rPr>
              <a:t>Handover View only for an authorised Decision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2"/>
          <p:cNvSpPr/>
          <p:nvPr/>
        </p:nvSpPr>
        <p:spPr>
          <a:xfrm>
            <a:off x="694800" y="4709160"/>
            <a:ext cx="1078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B6792A"/>
                </a:solidFill>
                <a:effectLst/>
                <a:uFillTx/>
                <a:latin typeface="Lato"/>
                <a:ea typeface="Lato"/>
              </a:rPr>
              <a:t>Stops before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43"/>
          <p:cNvSpPr/>
          <p:nvPr/>
        </p:nvSpPr>
        <p:spPr>
          <a:xfrm>
            <a:off x="1609200" y="4617720"/>
            <a:ext cx="1755360" cy="438480"/>
          </a:xfrm>
          <a:prstGeom prst="roundRect">
            <a:avLst>
              <a:gd name="adj" fmla="val 16667"/>
            </a:avLst>
          </a:prstGeom>
          <a:solidFill>
            <a:srgbClr val="F7EFE1"/>
          </a:solidFill>
          <a:ln w="10080">
            <a:solidFill>
              <a:srgbClr val="E8D4B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44"/>
          <p:cNvSpPr/>
          <p:nvPr/>
        </p:nvSpPr>
        <p:spPr>
          <a:xfrm>
            <a:off x="1664280" y="464508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Product-data authoring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45"/>
          <p:cNvSpPr/>
          <p:nvPr/>
        </p:nvSpPr>
        <p:spPr>
          <a:xfrm>
            <a:off x="3547800" y="4617720"/>
            <a:ext cx="1755360" cy="438480"/>
          </a:xfrm>
          <a:prstGeom prst="roundRect">
            <a:avLst>
              <a:gd name="adj" fmla="val 16667"/>
            </a:avLst>
          </a:prstGeom>
          <a:solidFill>
            <a:srgbClr val="F7EFE1"/>
          </a:solidFill>
          <a:ln w="10080">
            <a:solidFill>
              <a:srgbClr val="E8D4B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46"/>
          <p:cNvSpPr/>
          <p:nvPr/>
        </p:nvSpPr>
        <p:spPr>
          <a:xfrm>
            <a:off x="3602880" y="464508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Engineering release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47"/>
          <p:cNvSpPr/>
          <p:nvPr/>
        </p:nvSpPr>
        <p:spPr>
          <a:xfrm>
            <a:off x="5486400" y="4617720"/>
            <a:ext cx="1755360" cy="438480"/>
          </a:xfrm>
          <a:prstGeom prst="roundRect">
            <a:avLst>
              <a:gd name="adj" fmla="val 16667"/>
            </a:avLst>
          </a:prstGeom>
          <a:solidFill>
            <a:srgbClr val="F7EFE1"/>
          </a:solidFill>
          <a:ln w="10080">
            <a:solidFill>
              <a:srgbClr val="E8D4B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8"/>
          <p:cNvSpPr/>
          <p:nvPr/>
        </p:nvSpPr>
        <p:spPr>
          <a:xfrm>
            <a:off x="5541120" y="464508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Manufacturing implementation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49"/>
          <p:cNvSpPr/>
          <p:nvPr/>
        </p:nvSpPr>
        <p:spPr>
          <a:xfrm>
            <a:off x="7425000" y="4617720"/>
            <a:ext cx="1755360" cy="438480"/>
          </a:xfrm>
          <a:prstGeom prst="roundRect">
            <a:avLst>
              <a:gd name="adj" fmla="val 16667"/>
            </a:avLst>
          </a:prstGeom>
          <a:solidFill>
            <a:srgbClr val="F7EFE1"/>
          </a:solidFill>
          <a:ln w="10080">
            <a:solidFill>
              <a:srgbClr val="E8D4B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0"/>
          <p:cNvSpPr/>
          <p:nvPr/>
        </p:nvSpPr>
        <p:spPr>
          <a:xfrm>
            <a:off x="7479720" y="464508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Stock transition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51"/>
          <p:cNvSpPr/>
          <p:nvPr/>
        </p:nvSpPr>
        <p:spPr>
          <a:xfrm>
            <a:off x="9363600" y="4617720"/>
            <a:ext cx="1755360" cy="438480"/>
          </a:xfrm>
          <a:prstGeom prst="roundRect">
            <a:avLst>
              <a:gd name="adj" fmla="val 16667"/>
            </a:avLst>
          </a:prstGeom>
          <a:solidFill>
            <a:srgbClr val="F7EFE1"/>
          </a:solidFill>
          <a:ln w="10080">
            <a:solidFill>
              <a:srgbClr val="E8D4B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2"/>
          <p:cNvSpPr/>
          <p:nvPr/>
        </p:nvSpPr>
        <p:spPr>
          <a:xfrm>
            <a:off x="9418320" y="464508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Service deployment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53"/>
          <p:cNvSpPr/>
          <p:nvPr/>
        </p:nvSpPr>
        <p:spPr>
          <a:xfrm>
            <a:off x="658440" y="5230440"/>
            <a:ext cx="10862640" cy="621360"/>
          </a:xfrm>
          <a:prstGeom prst="roundRect">
            <a:avLst>
              <a:gd name="adj" fmla="val 11765"/>
            </a:avLst>
          </a:prstGeom>
          <a:solidFill>
            <a:srgbClr val="F5F7F9"/>
          </a:solidFill>
          <a:ln w="12600">
            <a:solidFill>
              <a:srgbClr val="C9D3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54"/>
          <p:cNvSpPr/>
          <p:nvPr/>
        </p:nvSpPr>
        <p:spPr>
          <a:xfrm>
            <a:off x="877680" y="5403960"/>
            <a:ext cx="10442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Synthetic integration projection - not an enterprise system of record. No company-specific process, data model, workflow or authority structure is claimed.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sldNum" idx="7"/>
          </p:nvPr>
        </p:nvSpPr>
        <p:spPr>
          <a:xfrm>
            <a:off x="11201400" y="6501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74AC72E-D47C-4364-B580-291274FF1419}" type="slidenum">
              <a: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3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530280" y="25596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139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CANONICAL DIAGRAM 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530280" y="48456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From engineering problem to executable evidence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530280" y="1042200"/>
            <a:ext cx="11109960" cy="360"/>
          </a:xfrm>
          <a:prstGeom prst="line">
            <a:avLst/>
          </a:prstGeom>
          <a:ln w="12600">
            <a:solidFill>
              <a:srgbClr val="C9D3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594360" y="117036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Business meaning governs delivery. Implementation, tests and evidence form the proof boundary.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4"/>
          <p:cNvSpPr/>
          <p:nvPr/>
        </p:nvSpPr>
        <p:spPr>
          <a:xfrm>
            <a:off x="567000" y="1737360"/>
            <a:ext cx="1599840" cy="4132800"/>
          </a:xfrm>
          <a:prstGeom prst="roundRect">
            <a:avLst>
              <a:gd name="adj" fmla="val 4571"/>
            </a:avLst>
          </a:prstGeom>
          <a:solidFill>
            <a:srgbClr val="EAF1F5"/>
          </a:solidFill>
          <a:ln w="12600">
            <a:solidFill>
              <a:srgbClr val="C9D8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5"/>
          <p:cNvSpPr/>
          <p:nvPr/>
        </p:nvSpPr>
        <p:spPr>
          <a:xfrm>
            <a:off x="841320" y="1938600"/>
            <a:ext cx="1060200" cy="310680"/>
          </a:xfrm>
          <a:prstGeom prst="roundRect">
            <a:avLst>
              <a:gd name="adj" fmla="val 16667"/>
            </a:avLst>
          </a:prstGeom>
          <a:solidFill>
            <a:srgbClr val="3B6F8F"/>
          </a:solidFill>
          <a:ln w="10080">
            <a:solidFill>
              <a:srgbClr val="3B6F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896040" y="1965960"/>
            <a:ext cx="950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PROBLEM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7"/>
          <p:cNvSpPr/>
          <p:nvPr/>
        </p:nvSpPr>
        <p:spPr>
          <a:xfrm>
            <a:off x="749880" y="2926080"/>
            <a:ext cx="12340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Bounded engineering product-change problem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749880" y="4617720"/>
            <a:ext cx="123408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What must be explicit before a change can be assessed and decided?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9"/>
          <p:cNvSpPr/>
          <p:nvPr/>
        </p:nvSpPr>
        <p:spPr>
          <a:xfrm>
            <a:off x="2176200" y="3785400"/>
            <a:ext cx="402480" cy="0"/>
          </a:xfrm>
          <a:prstGeom prst="line">
            <a:avLst/>
          </a:prstGeom>
          <a:ln w="25560">
            <a:solidFill>
              <a:srgbClr val="1F7A7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0"/>
          <p:cNvSpPr/>
          <p:nvPr/>
        </p:nvSpPr>
        <p:spPr>
          <a:xfrm>
            <a:off x="2578680" y="1737360"/>
            <a:ext cx="3821760" cy="4132800"/>
          </a:xfrm>
          <a:prstGeom prst="roundRect">
            <a:avLst>
              <a:gd name="adj" fmla="val 1914"/>
            </a:avLst>
          </a:prstGeom>
          <a:solidFill>
            <a:srgbClr val="F5F7F9"/>
          </a:solidFill>
          <a:ln w="12600">
            <a:solidFill>
              <a:srgbClr val="C9D3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1"/>
          <p:cNvSpPr/>
          <p:nvPr/>
        </p:nvSpPr>
        <p:spPr>
          <a:xfrm>
            <a:off x="3090600" y="1901880"/>
            <a:ext cx="2797560" cy="310680"/>
          </a:xfrm>
          <a:prstGeom prst="roundRect">
            <a:avLst>
              <a:gd name="adj" fmla="val 16667"/>
            </a:avLst>
          </a:prstGeom>
          <a:solidFill>
            <a:srgbClr val="2F4A5E"/>
          </a:solidFill>
          <a:ln w="10080">
            <a:solidFill>
              <a:srgbClr val="2F4A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2"/>
          <p:cNvSpPr/>
          <p:nvPr/>
        </p:nvSpPr>
        <p:spPr>
          <a:xfrm>
            <a:off x="3145680" y="1929240"/>
            <a:ext cx="2688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FROZEN ARCHITECTURE AUTHORITY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3"/>
          <p:cNvSpPr/>
          <p:nvPr/>
        </p:nvSpPr>
        <p:spPr>
          <a:xfrm>
            <a:off x="2816280" y="2377440"/>
            <a:ext cx="3346200" cy="420120"/>
          </a:xfrm>
          <a:prstGeom prst="roundRect">
            <a:avLst>
              <a:gd name="adj" fmla="val 17391"/>
            </a:avLst>
          </a:prstGeom>
          <a:solidFill>
            <a:srgbClr val="EAF1F5"/>
          </a:solidFill>
          <a:ln w="12600">
            <a:solidFill>
              <a:srgbClr val="D2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4"/>
          <p:cNvSpPr/>
          <p:nvPr/>
        </p:nvSpPr>
        <p:spPr>
          <a:xfrm>
            <a:off x="2926080" y="2423160"/>
            <a:ext cx="1974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Business Architecture v0.3.1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5"/>
          <p:cNvSpPr/>
          <p:nvPr/>
        </p:nvSpPr>
        <p:spPr>
          <a:xfrm>
            <a:off x="4736160" y="2423160"/>
            <a:ext cx="128052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 dirty="0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capability · process · invariants</a:t>
            </a:r>
            <a:endParaRPr lang="en-US" sz="71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6"/>
          <p:cNvSpPr/>
          <p:nvPr/>
        </p:nvSpPr>
        <p:spPr>
          <a:xfrm>
            <a:off x="4489560" y="2797920"/>
            <a:ext cx="360" cy="109800"/>
          </a:xfrm>
          <a:prstGeom prst="line">
            <a:avLst/>
          </a:prstGeom>
          <a:ln w="1152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7"/>
          <p:cNvSpPr/>
          <p:nvPr/>
        </p:nvSpPr>
        <p:spPr>
          <a:xfrm>
            <a:off x="2816280" y="2907720"/>
            <a:ext cx="3346200" cy="420120"/>
          </a:xfrm>
          <a:prstGeom prst="roundRect">
            <a:avLst>
              <a:gd name="adj" fmla="val 17391"/>
            </a:avLst>
          </a:prstGeom>
          <a:solidFill>
            <a:srgbClr val="EAF1F5"/>
          </a:solidFill>
          <a:ln w="12600">
            <a:solidFill>
              <a:srgbClr val="D2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8"/>
          <p:cNvSpPr/>
          <p:nvPr/>
        </p:nvSpPr>
        <p:spPr>
          <a:xfrm>
            <a:off x="2926080" y="2953440"/>
            <a:ext cx="1974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Logical Information Model v0.3.2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9"/>
          <p:cNvSpPr/>
          <p:nvPr/>
        </p:nvSpPr>
        <p:spPr>
          <a:xfrm>
            <a:off x="4736160" y="2953440"/>
            <a:ext cx="128052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 dirty="0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entities · lineage · immutability</a:t>
            </a:r>
            <a:endParaRPr lang="en-US" sz="71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0"/>
          <p:cNvSpPr/>
          <p:nvPr/>
        </p:nvSpPr>
        <p:spPr>
          <a:xfrm>
            <a:off x="4489560" y="3328200"/>
            <a:ext cx="360" cy="109800"/>
          </a:xfrm>
          <a:prstGeom prst="line">
            <a:avLst/>
          </a:prstGeom>
          <a:ln w="1152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1"/>
          <p:cNvSpPr/>
          <p:nvPr/>
        </p:nvSpPr>
        <p:spPr>
          <a:xfrm>
            <a:off x="2816280" y="3438000"/>
            <a:ext cx="3346200" cy="420120"/>
          </a:xfrm>
          <a:prstGeom prst="roundRect">
            <a:avLst>
              <a:gd name="adj" fmla="val 17391"/>
            </a:avLst>
          </a:prstGeom>
          <a:solidFill>
            <a:srgbClr val="E5F1F0"/>
          </a:solidFill>
          <a:ln w="12600">
            <a:solidFill>
              <a:srgbClr val="D2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2"/>
          <p:cNvSpPr/>
          <p:nvPr/>
        </p:nvSpPr>
        <p:spPr>
          <a:xfrm>
            <a:off x="2926080" y="3483720"/>
            <a:ext cx="1974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Scenario Data Definition v0.1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3"/>
          <p:cNvSpPr/>
          <p:nvPr/>
        </p:nvSpPr>
        <p:spPr>
          <a:xfrm>
            <a:off x="4974480" y="3483720"/>
            <a:ext cx="104220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exact Scenario A-C oracle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4"/>
          <p:cNvSpPr/>
          <p:nvPr/>
        </p:nvSpPr>
        <p:spPr>
          <a:xfrm>
            <a:off x="4489560" y="3858480"/>
            <a:ext cx="360" cy="109800"/>
          </a:xfrm>
          <a:prstGeom prst="line">
            <a:avLst/>
          </a:prstGeom>
          <a:ln w="1152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5"/>
          <p:cNvSpPr/>
          <p:nvPr/>
        </p:nvSpPr>
        <p:spPr>
          <a:xfrm>
            <a:off x="2816280" y="3968640"/>
            <a:ext cx="3346200" cy="420120"/>
          </a:xfrm>
          <a:prstGeom prst="roundRect">
            <a:avLst>
              <a:gd name="adj" fmla="val 17391"/>
            </a:avLst>
          </a:prstGeom>
          <a:solidFill>
            <a:srgbClr val="E5F1F0"/>
          </a:solidFill>
          <a:ln w="12600">
            <a:solidFill>
              <a:srgbClr val="D2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6"/>
          <p:cNvSpPr/>
          <p:nvPr/>
        </p:nvSpPr>
        <p:spPr>
          <a:xfrm>
            <a:off x="2926080" y="4014360"/>
            <a:ext cx="1974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RRR-v0.1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7"/>
          <p:cNvSpPr/>
          <p:nvPr/>
        </p:nvSpPr>
        <p:spPr>
          <a:xfrm>
            <a:off x="4489560" y="4014360"/>
            <a:ext cx="152712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 dirty="0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deterministic readiness and routing</a:t>
            </a:r>
            <a:endParaRPr lang="en-US" sz="71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28"/>
          <p:cNvSpPr/>
          <p:nvPr/>
        </p:nvSpPr>
        <p:spPr>
          <a:xfrm>
            <a:off x="4489560" y="4389120"/>
            <a:ext cx="360" cy="109440"/>
          </a:xfrm>
          <a:prstGeom prst="line">
            <a:avLst/>
          </a:prstGeom>
          <a:ln w="1152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29"/>
          <p:cNvSpPr/>
          <p:nvPr/>
        </p:nvSpPr>
        <p:spPr>
          <a:xfrm>
            <a:off x="2816280" y="4498920"/>
            <a:ext cx="3346200" cy="42012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600">
            <a:solidFill>
              <a:srgbClr val="D2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0"/>
          <p:cNvSpPr/>
          <p:nvPr/>
        </p:nvSpPr>
        <p:spPr>
          <a:xfrm>
            <a:off x="2926080" y="4544640"/>
            <a:ext cx="1974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Solution Architecture v0.1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1"/>
          <p:cNvSpPr/>
          <p:nvPr/>
        </p:nvSpPr>
        <p:spPr>
          <a:xfrm>
            <a:off x="4584700" y="4544640"/>
            <a:ext cx="143198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 dirty="0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implementation boundaries</a:t>
            </a:r>
            <a:endParaRPr lang="en-US" sz="71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32"/>
          <p:cNvSpPr/>
          <p:nvPr/>
        </p:nvSpPr>
        <p:spPr>
          <a:xfrm>
            <a:off x="4489560" y="4919400"/>
            <a:ext cx="360" cy="109800"/>
          </a:xfrm>
          <a:prstGeom prst="line">
            <a:avLst/>
          </a:prstGeom>
          <a:ln w="1152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33"/>
          <p:cNvSpPr/>
          <p:nvPr/>
        </p:nvSpPr>
        <p:spPr>
          <a:xfrm>
            <a:off x="2816280" y="5029200"/>
            <a:ext cx="3346200" cy="42012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600">
            <a:solidFill>
              <a:srgbClr val="D2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4"/>
          <p:cNvSpPr/>
          <p:nvPr/>
        </p:nvSpPr>
        <p:spPr>
          <a:xfrm>
            <a:off x="2926080" y="5074920"/>
            <a:ext cx="1974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Prototype Implementation Plan v0.1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5"/>
          <p:cNvSpPr/>
          <p:nvPr/>
        </p:nvSpPr>
        <p:spPr>
          <a:xfrm>
            <a:off x="4974480" y="5074920"/>
            <a:ext cx="104220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increments · gates · integrity catalogue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6"/>
          <p:cNvSpPr/>
          <p:nvPr/>
        </p:nvSpPr>
        <p:spPr>
          <a:xfrm>
            <a:off x="3255120" y="5468040"/>
            <a:ext cx="2468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PRIMARY DELIVERABLE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37"/>
          <p:cNvSpPr/>
          <p:nvPr/>
        </p:nvSpPr>
        <p:spPr>
          <a:xfrm>
            <a:off x="6418800" y="3785400"/>
            <a:ext cx="383760" cy="0"/>
          </a:xfrm>
          <a:prstGeom prst="line">
            <a:avLst/>
          </a:prstGeom>
          <a:ln w="25560">
            <a:solidFill>
              <a:srgbClr val="1F7A7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38"/>
          <p:cNvSpPr/>
          <p:nvPr/>
        </p:nvSpPr>
        <p:spPr>
          <a:xfrm>
            <a:off x="6821280" y="1737360"/>
            <a:ext cx="2057040" cy="4132800"/>
          </a:xfrm>
          <a:prstGeom prst="roundRect">
            <a:avLst>
              <a:gd name="adj" fmla="val 3556"/>
            </a:avLst>
          </a:prstGeom>
          <a:solidFill>
            <a:srgbClr val="E5F1F0"/>
          </a:solidFill>
          <a:ln w="12600">
            <a:solidFill>
              <a:srgbClr val="BDD8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39"/>
          <p:cNvSpPr/>
          <p:nvPr/>
        </p:nvSpPr>
        <p:spPr>
          <a:xfrm>
            <a:off x="7104960" y="1938600"/>
            <a:ext cx="1481040" cy="310680"/>
          </a:xfrm>
          <a:prstGeom prst="roundRect">
            <a:avLst>
              <a:gd name="adj" fmla="val 16667"/>
            </a:avLst>
          </a:prstGeom>
          <a:solidFill>
            <a:srgbClr val="1F7A7A"/>
          </a:solidFill>
          <a:ln w="10080">
            <a:solidFill>
              <a:srgbClr val="1F7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0"/>
          <p:cNvSpPr/>
          <p:nvPr/>
        </p:nvSpPr>
        <p:spPr>
          <a:xfrm>
            <a:off x="7159680" y="196596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CONTROLLED DELIVERY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41"/>
          <p:cNvSpPr/>
          <p:nvPr/>
        </p:nvSpPr>
        <p:spPr>
          <a:xfrm>
            <a:off x="7104960" y="2724840"/>
            <a:ext cx="1490040" cy="8409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600">
            <a:solidFill>
              <a:srgbClr val="C8DE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42"/>
          <p:cNvSpPr/>
          <p:nvPr/>
        </p:nvSpPr>
        <p:spPr>
          <a:xfrm>
            <a:off x="7232760" y="287136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INC-00-INC-14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43"/>
          <p:cNvSpPr/>
          <p:nvPr/>
        </p:nvSpPr>
        <p:spPr>
          <a:xfrm>
            <a:off x="7232760" y="3127320"/>
            <a:ext cx="1234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bounded work packages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44"/>
          <p:cNvSpPr/>
          <p:nvPr/>
        </p:nvSpPr>
        <p:spPr>
          <a:xfrm>
            <a:off x="7854480" y="3584160"/>
            <a:ext cx="360" cy="265320"/>
          </a:xfrm>
          <a:prstGeom prst="line">
            <a:avLst/>
          </a:prstGeom>
          <a:ln w="1512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45"/>
          <p:cNvSpPr/>
          <p:nvPr/>
        </p:nvSpPr>
        <p:spPr>
          <a:xfrm>
            <a:off x="7104960" y="3877200"/>
            <a:ext cx="1490040" cy="10054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600">
            <a:solidFill>
              <a:srgbClr val="C8DE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6"/>
          <p:cNvSpPr/>
          <p:nvPr/>
        </p:nvSpPr>
        <p:spPr>
          <a:xfrm>
            <a:off x="7232760" y="400500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G00-G14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47"/>
          <p:cNvSpPr/>
          <p:nvPr/>
        </p:nvSpPr>
        <p:spPr>
          <a:xfrm>
            <a:off x="7232760" y="426096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IT-01-IT-16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8"/>
          <p:cNvSpPr/>
          <p:nvPr/>
        </p:nvSpPr>
        <p:spPr>
          <a:xfrm>
            <a:off x="7232760" y="4517280"/>
            <a:ext cx="12340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acceptance · negative · integrity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49"/>
          <p:cNvSpPr/>
          <p:nvPr/>
        </p:nvSpPr>
        <p:spPr>
          <a:xfrm>
            <a:off x="7095600" y="5166360"/>
            <a:ext cx="15174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No failed release-critical gate is bypassed.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50"/>
          <p:cNvSpPr/>
          <p:nvPr/>
        </p:nvSpPr>
        <p:spPr>
          <a:xfrm>
            <a:off x="8897040" y="3785400"/>
            <a:ext cx="335860" cy="0"/>
          </a:xfrm>
          <a:prstGeom prst="line">
            <a:avLst/>
          </a:prstGeom>
          <a:ln w="25560">
            <a:solidFill>
              <a:srgbClr val="1F7A7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51"/>
          <p:cNvSpPr/>
          <p:nvPr/>
        </p:nvSpPr>
        <p:spPr>
          <a:xfrm>
            <a:off x="9299520" y="1737360"/>
            <a:ext cx="2322360" cy="4132800"/>
          </a:xfrm>
          <a:prstGeom prst="roundRect">
            <a:avLst>
              <a:gd name="adj" fmla="val 3150"/>
            </a:avLst>
          </a:prstGeom>
          <a:solidFill>
            <a:srgbClr val="E8F1EB"/>
          </a:solidFill>
          <a:ln w="12600">
            <a:solidFill>
              <a:srgbClr val="C6DCC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52"/>
          <p:cNvSpPr/>
          <p:nvPr/>
        </p:nvSpPr>
        <p:spPr>
          <a:xfrm>
            <a:off x="9637920" y="1938600"/>
            <a:ext cx="1645560" cy="310680"/>
          </a:xfrm>
          <a:prstGeom prst="roundRect">
            <a:avLst>
              <a:gd name="adj" fmla="val 16667"/>
            </a:avLst>
          </a:prstGeom>
          <a:solidFill>
            <a:srgbClr val="3F7D5A"/>
          </a:solidFill>
          <a:ln w="10080">
            <a:solidFill>
              <a:srgbClr val="3F7D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3"/>
          <p:cNvSpPr/>
          <p:nvPr/>
        </p:nvSpPr>
        <p:spPr>
          <a:xfrm>
            <a:off x="9692640" y="1965960"/>
            <a:ext cx="1535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EXECUTABLE PROOF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54"/>
          <p:cNvSpPr/>
          <p:nvPr/>
        </p:nvSpPr>
        <p:spPr>
          <a:xfrm>
            <a:off x="9564480" y="2670120"/>
            <a:ext cx="179172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600">
            <a:solidFill>
              <a:srgbClr val="CADFC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55"/>
          <p:cNvSpPr/>
          <p:nvPr/>
        </p:nvSpPr>
        <p:spPr>
          <a:xfrm>
            <a:off x="9692640" y="2770560"/>
            <a:ext cx="1535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Scenario A-C execution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56"/>
          <p:cNvSpPr/>
          <p:nvPr/>
        </p:nvSpPr>
        <p:spPr>
          <a:xfrm>
            <a:off x="9692640" y="3054240"/>
            <a:ext cx="1535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application services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57"/>
          <p:cNvSpPr/>
          <p:nvPr/>
        </p:nvSpPr>
        <p:spPr>
          <a:xfrm>
            <a:off x="10460520" y="3383280"/>
            <a:ext cx="360" cy="200880"/>
          </a:xfrm>
          <a:prstGeom prst="line">
            <a:avLst/>
          </a:prstGeom>
          <a:ln w="1260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58"/>
          <p:cNvSpPr/>
          <p:nvPr/>
        </p:nvSpPr>
        <p:spPr>
          <a:xfrm>
            <a:off x="9564480" y="3602880"/>
            <a:ext cx="179172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600">
            <a:solidFill>
              <a:srgbClr val="CADFC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59"/>
          <p:cNvSpPr/>
          <p:nvPr/>
        </p:nvSpPr>
        <p:spPr>
          <a:xfrm>
            <a:off x="9564480" y="3703320"/>
            <a:ext cx="1791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dirty="0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Independent oracle comparison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60"/>
          <p:cNvSpPr/>
          <p:nvPr/>
        </p:nvSpPr>
        <p:spPr>
          <a:xfrm>
            <a:off x="9692640" y="3986640"/>
            <a:ext cx="1535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complete actual state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61"/>
          <p:cNvSpPr/>
          <p:nvPr/>
        </p:nvSpPr>
        <p:spPr>
          <a:xfrm>
            <a:off x="10460520" y="4315680"/>
            <a:ext cx="360" cy="201240"/>
          </a:xfrm>
          <a:prstGeom prst="line">
            <a:avLst/>
          </a:prstGeom>
          <a:ln w="1260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62"/>
          <p:cNvSpPr/>
          <p:nvPr/>
        </p:nvSpPr>
        <p:spPr>
          <a:xfrm>
            <a:off x="9564480" y="4535280"/>
            <a:ext cx="179172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600">
            <a:solidFill>
              <a:srgbClr val="CADFC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63"/>
          <p:cNvSpPr/>
          <p:nvPr/>
        </p:nvSpPr>
        <p:spPr>
          <a:xfrm>
            <a:off x="9692640" y="4636080"/>
            <a:ext cx="1535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 dirty="0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Deterministic evidence</a:t>
            </a:r>
            <a:endParaRPr lang="en-US" sz="10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64"/>
          <p:cNvSpPr/>
          <p:nvPr/>
        </p:nvSpPr>
        <p:spPr>
          <a:xfrm>
            <a:off x="9692640" y="4919400"/>
            <a:ext cx="1535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actuals · diffs · basis · integrity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65"/>
          <p:cNvSpPr/>
          <p:nvPr/>
        </p:nvSpPr>
        <p:spPr>
          <a:xfrm>
            <a:off x="9692640" y="5468040"/>
            <a:ext cx="1535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F7D5A"/>
                </a:solidFill>
                <a:effectLst/>
                <a:uFillTx/>
                <a:latin typeface="Lato"/>
                <a:ea typeface="Lato"/>
              </a:rPr>
              <a:t>PROOF BOUNDARY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66"/>
          <p:cNvSpPr/>
          <p:nvPr/>
        </p:nvSpPr>
        <p:spPr>
          <a:xfrm>
            <a:off x="749880" y="5980320"/>
            <a:ext cx="10698120" cy="319680"/>
          </a:xfrm>
          <a:prstGeom prst="roundRect">
            <a:avLst>
              <a:gd name="adj" fmla="val 22857"/>
            </a:avLst>
          </a:prstGeom>
          <a:solidFill>
            <a:srgbClr val="20364A"/>
          </a:solidFill>
          <a:ln w="12600">
            <a:solidFill>
              <a:srgbClr val="20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67"/>
          <p:cNvSpPr/>
          <p:nvPr/>
        </p:nvSpPr>
        <p:spPr>
          <a:xfrm>
            <a:off x="896040" y="6035040"/>
            <a:ext cx="1040544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Architecture is the primary deliverable. The prototype tests whether that architecture executes deterministically.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1"/>
          <p:cNvSpPr>
            <a:spLocks noGrp="1"/>
          </p:cNvSpPr>
          <p:nvPr>
            <p:ph type="sldNum" idx="8"/>
          </p:nvPr>
        </p:nvSpPr>
        <p:spPr>
          <a:xfrm>
            <a:off x="11201400" y="6501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B209DF1-9F48-426D-A1AC-F4B43923F269}" type="slidenum">
              <a: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4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0"/>
          <p:cNvSpPr/>
          <p:nvPr/>
        </p:nvSpPr>
        <p:spPr>
          <a:xfrm>
            <a:off x="530280" y="25596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139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CANONICAL DIAGRAM 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"/>
          <p:cNvSpPr/>
          <p:nvPr/>
        </p:nvSpPr>
        <p:spPr>
          <a:xfrm>
            <a:off x="530280" y="48456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Current state, baseline and proposal are not equivalent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"/>
          <p:cNvSpPr/>
          <p:nvPr/>
        </p:nvSpPr>
        <p:spPr>
          <a:xfrm>
            <a:off x="530280" y="1042200"/>
            <a:ext cx="11109960" cy="360"/>
          </a:xfrm>
          <a:prstGeom prst="line">
            <a:avLst/>
          </a:prstGeom>
          <a:ln w="12600">
            <a:solidFill>
              <a:srgbClr val="C9D3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"/>
          <p:cNvSpPr/>
          <p:nvPr/>
        </p:nvSpPr>
        <p:spPr>
          <a:xfrm>
            <a:off x="594360" y="117036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Historical evaluation requires an immutable captured basis and a separate, non-authoritative proposed-state overlay.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4"/>
          <p:cNvSpPr/>
          <p:nvPr/>
        </p:nvSpPr>
        <p:spPr>
          <a:xfrm>
            <a:off x="640080" y="1828800"/>
            <a:ext cx="1965600" cy="3565800"/>
          </a:xfrm>
          <a:prstGeom prst="roundRect">
            <a:avLst>
              <a:gd name="adj" fmla="val 3721"/>
            </a:avLst>
          </a:prstGeom>
          <a:solidFill>
            <a:srgbClr val="EAF1F5"/>
          </a:solidFill>
          <a:ln w="12600">
            <a:solidFill>
              <a:srgbClr val="C9D8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5"/>
          <p:cNvSpPr/>
          <p:nvPr/>
        </p:nvSpPr>
        <p:spPr>
          <a:xfrm>
            <a:off x="987480" y="2048400"/>
            <a:ext cx="1261440" cy="310680"/>
          </a:xfrm>
          <a:prstGeom prst="roundRect">
            <a:avLst>
              <a:gd name="adj" fmla="val 16667"/>
            </a:avLst>
          </a:prstGeom>
          <a:solidFill>
            <a:srgbClr val="3B6F8F"/>
          </a:solidFill>
          <a:ln w="10080">
            <a:solidFill>
              <a:srgbClr val="3B6F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6"/>
          <p:cNvSpPr/>
          <p:nvPr/>
        </p:nvSpPr>
        <p:spPr>
          <a:xfrm>
            <a:off x="1042560" y="2075760"/>
            <a:ext cx="115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LIVE / SOURCE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7"/>
          <p:cNvSpPr/>
          <p:nvPr/>
        </p:nvSpPr>
        <p:spPr>
          <a:xfrm>
            <a:off x="896040" y="2688480"/>
            <a:ext cx="1453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Current state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8"/>
          <p:cNvSpPr/>
          <p:nvPr/>
        </p:nvSpPr>
        <p:spPr>
          <a:xfrm>
            <a:off x="896040" y="3136320"/>
            <a:ext cx="14536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Synthetic integration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projection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9"/>
          <p:cNvSpPr/>
          <p:nvPr/>
        </p:nvSpPr>
        <p:spPr>
          <a:xfrm>
            <a:off x="887040" y="4389120"/>
            <a:ext cx="14810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Selected relevant state is captured - not the complete enterprise world.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0"/>
          <p:cNvSpPr/>
          <p:nvPr/>
        </p:nvSpPr>
        <p:spPr>
          <a:xfrm flipV="1">
            <a:off x="2624040" y="3008160"/>
            <a:ext cx="411840" cy="0"/>
          </a:xfrm>
          <a:prstGeom prst="line">
            <a:avLst/>
          </a:prstGeom>
          <a:ln w="25560">
            <a:solidFill>
              <a:srgbClr val="1F7A7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1"/>
          <p:cNvSpPr/>
          <p:nvPr/>
        </p:nvSpPr>
        <p:spPr>
          <a:xfrm>
            <a:off x="2660400" y="2871180"/>
            <a:ext cx="310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capture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2"/>
          <p:cNvSpPr/>
          <p:nvPr/>
        </p:nvSpPr>
        <p:spPr>
          <a:xfrm>
            <a:off x="3054240" y="1783080"/>
            <a:ext cx="3090240" cy="1627200"/>
          </a:xfrm>
          <a:prstGeom prst="roundRect">
            <a:avLst>
              <a:gd name="adj" fmla="val 4494"/>
            </a:avLst>
          </a:prstGeom>
          <a:solidFill>
            <a:srgbClr val="E5F1F0"/>
          </a:solidFill>
          <a:ln w="12600">
            <a:solidFill>
              <a:srgbClr val="BDD8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3"/>
          <p:cNvSpPr/>
          <p:nvPr/>
        </p:nvSpPr>
        <p:spPr>
          <a:xfrm>
            <a:off x="3456360" y="1993320"/>
            <a:ext cx="2285640" cy="310680"/>
          </a:xfrm>
          <a:prstGeom prst="roundRect">
            <a:avLst>
              <a:gd name="adj" fmla="val 16667"/>
            </a:avLst>
          </a:prstGeom>
          <a:solidFill>
            <a:srgbClr val="1F7A7A"/>
          </a:solidFill>
          <a:ln w="10080">
            <a:solidFill>
              <a:srgbClr val="1F7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4"/>
          <p:cNvSpPr/>
          <p:nvPr/>
        </p:nvSpPr>
        <p:spPr>
          <a:xfrm>
            <a:off x="3511440" y="2020680"/>
            <a:ext cx="2175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CAPTURED CURRENT-STATE BASIS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5"/>
          <p:cNvSpPr/>
          <p:nvPr/>
        </p:nvSpPr>
        <p:spPr>
          <a:xfrm>
            <a:off x="3383280" y="2523600"/>
            <a:ext cx="2431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Assessment Baseline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6"/>
          <p:cNvSpPr/>
          <p:nvPr/>
        </p:nvSpPr>
        <p:spPr>
          <a:xfrm>
            <a:off x="3474720" y="2889360"/>
            <a:ext cx="2248920" cy="3106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600">
            <a:solidFill>
              <a:srgbClr val="C7DC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7"/>
          <p:cNvSpPr/>
          <p:nvPr/>
        </p:nvSpPr>
        <p:spPr>
          <a:xfrm>
            <a:off x="3557160" y="2944440"/>
            <a:ext cx="2084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Baseline Members = immutable snapshots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8"/>
          <p:cNvSpPr/>
          <p:nvPr/>
        </p:nvSpPr>
        <p:spPr>
          <a:xfrm>
            <a:off x="3054240" y="3703320"/>
            <a:ext cx="3090240" cy="1846800"/>
          </a:xfrm>
          <a:prstGeom prst="roundRect">
            <a:avLst>
              <a:gd name="adj" fmla="val 3960"/>
            </a:avLst>
          </a:prstGeom>
          <a:solidFill>
            <a:srgbClr val="F5F7F9"/>
          </a:solidFill>
          <a:ln w="12600">
            <a:solidFill>
              <a:srgbClr val="CB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9"/>
          <p:cNvSpPr/>
          <p:nvPr/>
        </p:nvSpPr>
        <p:spPr>
          <a:xfrm>
            <a:off x="3456360" y="3886200"/>
            <a:ext cx="2285640" cy="310680"/>
          </a:xfrm>
          <a:prstGeom prst="roundRect">
            <a:avLst>
              <a:gd name="adj" fmla="val 16667"/>
            </a:avLst>
          </a:prstGeom>
          <a:solidFill>
            <a:srgbClr val="2F4A5E"/>
          </a:solidFill>
          <a:ln w="10080">
            <a:solidFill>
              <a:srgbClr val="2F4A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0"/>
          <p:cNvSpPr/>
          <p:nvPr/>
        </p:nvSpPr>
        <p:spPr>
          <a:xfrm>
            <a:off x="3511440" y="3913560"/>
            <a:ext cx="2175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VERSIONED PROPOSED-STATE BASIS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1"/>
          <p:cNvSpPr/>
          <p:nvPr/>
        </p:nvSpPr>
        <p:spPr>
          <a:xfrm>
            <a:off x="3429000" y="4343400"/>
            <a:ext cx="2340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Change Item Revision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2"/>
          <p:cNvSpPr/>
          <p:nvPr/>
        </p:nvSpPr>
        <p:spPr>
          <a:xfrm>
            <a:off x="4599360" y="4590000"/>
            <a:ext cx="360" cy="182880"/>
          </a:xfrm>
          <a:prstGeom prst="line">
            <a:avLst/>
          </a:prstGeom>
          <a:ln w="1260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3"/>
          <p:cNvSpPr/>
          <p:nvPr/>
        </p:nvSpPr>
        <p:spPr>
          <a:xfrm>
            <a:off x="3657600" y="4791600"/>
            <a:ext cx="18831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Overlay Revision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4"/>
          <p:cNvSpPr/>
          <p:nvPr/>
        </p:nvSpPr>
        <p:spPr>
          <a:xfrm>
            <a:off x="3730680" y="5010840"/>
            <a:ext cx="17370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exact revision membership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25"/>
          <p:cNvSpPr/>
          <p:nvPr/>
        </p:nvSpPr>
        <p:spPr>
          <a:xfrm>
            <a:off x="3675960" y="5212080"/>
            <a:ext cx="1846800" cy="2556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600">
            <a:solidFill>
              <a:srgbClr val="C9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6"/>
          <p:cNvSpPr/>
          <p:nvPr/>
        </p:nvSpPr>
        <p:spPr>
          <a:xfrm>
            <a:off x="3749040" y="5257800"/>
            <a:ext cx="1700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3B6F8F"/>
                </a:solidFill>
                <a:effectLst/>
                <a:uFillTx/>
                <a:latin typeface="Lato"/>
                <a:ea typeface="Lato"/>
              </a:rPr>
              <a:t>Overlay-local Object · hypothetical state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7"/>
          <p:cNvSpPr/>
          <p:nvPr/>
        </p:nvSpPr>
        <p:spPr>
          <a:xfrm>
            <a:off x="6748200" y="34016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+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28"/>
          <p:cNvSpPr/>
          <p:nvPr/>
        </p:nvSpPr>
        <p:spPr>
          <a:xfrm>
            <a:off x="6162840" y="2615040"/>
            <a:ext cx="1701000" cy="448200"/>
          </a:xfrm>
          <a:prstGeom prst="line">
            <a:avLst/>
          </a:prstGeom>
          <a:ln w="25560">
            <a:solidFill>
              <a:srgbClr val="1F7A7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9"/>
          <p:cNvSpPr/>
          <p:nvPr/>
        </p:nvSpPr>
        <p:spPr>
          <a:xfrm>
            <a:off x="6450247" y="3105150"/>
            <a:ext cx="1060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1" u="none" strike="noStrike" dirty="0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current-state basis</a:t>
            </a:r>
            <a:endParaRPr lang="en-US" sz="8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30"/>
          <p:cNvSpPr/>
          <p:nvPr/>
        </p:nvSpPr>
        <p:spPr>
          <a:xfrm flipV="1">
            <a:off x="6162840" y="4169520"/>
            <a:ext cx="1701000" cy="448200"/>
          </a:xfrm>
          <a:prstGeom prst="line">
            <a:avLst/>
          </a:prstGeom>
          <a:ln w="25560">
            <a:solidFill>
              <a:srgbClr val="1F7A7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31"/>
          <p:cNvSpPr/>
          <p:nvPr/>
        </p:nvSpPr>
        <p:spPr>
          <a:xfrm>
            <a:off x="6395347" y="3945585"/>
            <a:ext cx="1170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1" u="none" strike="noStrike" dirty="0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proposed-state basis</a:t>
            </a:r>
            <a:endParaRPr lang="en-US" sz="8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32"/>
          <p:cNvSpPr/>
          <p:nvPr/>
        </p:nvSpPr>
        <p:spPr>
          <a:xfrm>
            <a:off x="7918560" y="2221920"/>
            <a:ext cx="3401280" cy="2852640"/>
          </a:xfrm>
          <a:prstGeom prst="roundRect">
            <a:avLst>
              <a:gd name="adj" fmla="val 2564"/>
            </a:avLst>
          </a:prstGeom>
          <a:solidFill>
            <a:srgbClr val="E8F1EB"/>
          </a:solidFill>
          <a:ln w="12600">
            <a:solidFill>
              <a:srgbClr val="C6DCC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33"/>
          <p:cNvSpPr/>
          <p:nvPr/>
        </p:nvSpPr>
        <p:spPr>
          <a:xfrm>
            <a:off x="8933760" y="2468880"/>
            <a:ext cx="1371240" cy="310680"/>
          </a:xfrm>
          <a:prstGeom prst="roundRect">
            <a:avLst>
              <a:gd name="adj" fmla="val 16667"/>
            </a:avLst>
          </a:prstGeom>
          <a:solidFill>
            <a:srgbClr val="3F7D5A"/>
          </a:solidFill>
          <a:ln w="10080">
            <a:solidFill>
              <a:srgbClr val="3F7D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4"/>
          <p:cNvSpPr/>
          <p:nvPr/>
        </p:nvSpPr>
        <p:spPr>
          <a:xfrm>
            <a:off x="8988480" y="2496240"/>
            <a:ext cx="1261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EVALUATION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5"/>
          <p:cNvSpPr/>
          <p:nvPr/>
        </p:nvSpPr>
        <p:spPr>
          <a:xfrm>
            <a:off x="8430840" y="3081600"/>
            <a:ext cx="237708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Impact-analysis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Execution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6"/>
          <p:cNvSpPr/>
          <p:nvPr/>
        </p:nvSpPr>
        <p:spPr>
          <a:xfrm>
            <a:off x="8394120" y="4041720"/>
            <a:ext cx="24501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one Assessment Baseline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+ one Overlay Revision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+ recorded rule-set version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37"/>
          <p:cNvSpPr/>
          <p:nvPr/>
        </p:nvSpPr>
        <p:spPr>
          <a:xfrm>
            <a:off x="749880" y="5742360"/>
            <a:ext cx="10661400" cy="493560"/>
          </a:xfrm>
          <a:prstGeom prst="roundRect">
            <a:avLst>
              <a:gd name="adj" fmla="val 14815"/>
            </a:avLst>
          </a:prstGeom>
          <a:solidFill>
            <a:srgbClr val="20364A"/>
          </a:solidFill>
          <a:ln w="12600">
            <a:solidFill>
              <a:srgbClr val="20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38"/>
          <p:cNvSpPr/>
          <p:nvPr/>
        </p:nvSpPr>
        <p:spPr>
          <a:xfrm>
            <a:off x="932760" y="5843160"/>
            <a:ext cx="102956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Later source changes cannot redefine history: reconstruction uses stored Baseline Members, Overlay-local Objects, locked Assessments and Evidence snapshots.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1"/>
          <p:cNvSpPr>
            <a:spLocks noGrp="1"/>
          </p:cNvSpPr>
          <p:nvPr>
            <p:ph type="sldNum" idx="9"/>
          </p:nvPr>
        </p:nvSpPr>
        <p:spPr>
          <a:xfrm>
            <a:off x="11201400" y="6501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EB9BF5C-11E2-4066-8754-129B4D0BD6A2}" type="slidenum">
              <a: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5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 0"/>
          <p:cNvSpPr/>
          <p:nvPr/>
        </p:nvSpPr>
        <p:spPr>
          <a:xfrm>
            <a:off x="530280" y="25596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139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ARCHITECTURE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"/>
          <p:cNvSpPr/>
          <p:nvPr/>
        </p:nvSpPr>
        <p:spPr>
          <a:xfrm>
            <a:off x="530280" y="48456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Information and lineage architecture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"/>
          <p:cNvSpPr/>
          <p:nvPr/>
        </p:nvSpPr>
        <p:spPr>
          <a:xfrm>
            <a:off x="530280" y="1042200"/>
            <a:ext cx="11109960" cy="360"/>
          </a:xfrm>
          <a:prstGeom prst="line">
            <a:avLst/>
          </a:prstGeom>
          <a:ln w="12600">
            <a:solidFill>
              <a:srgbClr val="C9D3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3"/>
          <p:cNvSpPr/>
          <p:nvPr/>
        </p:nvSpPr>
        <p:spPr>
          <a:xfrm>
            <a:off x="594360" y="117036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Decision readiness depends on explicit objects, associations and case-local lineage, not on one generic change record.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4"/>
          <p:cNvSpPr/>
          <p:nvPr/>
        </p:nvSpPr>
        <p:spPr>
          <a:xfrm>
            <a:off x="640080" y="1783080"/>
            <a:ext cx="10899360" cy="840960"/>
          </a:xfrm>
          <a:prstGeom prst="roundRect">
            <a:avLst>
              <a:gd name="adj" fmla="val 8696"/>
            </a:avLst>
          </a:prstGeom>
          <a:solidFill>
            <a:srgbClr val="EAF1F5"/>
          </a:solidFill>
          <a:ln w="12600">
            <a:solidFill>
              <a:srgbClr val="C9D3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5"/>
          <p:cNvSpPr/>
          <p:nvPr/>
        </p:nvSpPr>
        <p:spPr>
          <a:xfrm>
            <a:off x="640080" y="1783080"/>
            <a:ext cx="91080" cy="840960"/>
          </a:xfrm>
          <a:prstGeom prst="rect">
            <a:avLst/>
          </a:prstGeom>
          <a:solidFill>
            <a:srgbClr val="3B6F8F"/>
          </a:solidFill>
          <a:ln w="12600">
            <a:solidFill>
              <a:srgbClr val="3B6F8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6"/>
          <p:cNvSpPr/>
          <p:nvPr/>
        </p:nvSpPr>
        <p:spPr>
          <a:xfrm>
            <a:off x="841320" y="1901880"/>
            <a:ext cx="187416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1 · Product information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7"/>
          <p:cNvSpPr/>
          <p:nvPr/>
        </p:nvSpPr>
        <p:spPr>
          <a:xfrm>
            <a:off x="2788920" y="1938600"/>
            <a:ext cx="125712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8"/>
          <p:cNvSpPr/>
          <p:nvPr/>
        </p:nvSpPr>
        <p:spPr>
          <a:xfrm>
            <a:off x="2843640" y="1965960"/>
            <a:ext cx="1147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Product Element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9"/>
          <p:cNvSpPr/>
          <p:nvPr/>
        </p:nvSpPr>
        <p:spPr>
          <a:xfrm>
            <a:off x="4137840" y="1938600"/>
            <a:ext cx="125712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0"/>
          <p:cNvSpPr/>
          <p:nvPr/>
        </p:nvSpPr>
        <p:spPr>
          <a:xfrm>
            <a:off x="4192560" y="1965960"/>
            <a:ext cx="1147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Product Version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1"/>
          <p:cNvSpPr/>
          <p:nvPr/>
        </p:nvSpPr>
        <p:spPr>
          <a:xfrm>
            <a:off x="5486400" y="1938600"/>
            <a:ext cx="191088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2"/>
          <p:cNvSpPr/>
          <p:nvPr/>
        </p:nvSpPr>
        <p:spPr>
          <a:xfrm>
            <a:off x="5541120" y="1965960"/>
            <a:ext cx="1801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Product Structure Occurrence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3"/>
          <p:cNvSpPr/>
          <p:nvPr/>
        </p:nvSpPr>
        <p:spPr>
          <a:xfrm>
            <a:off x="7489080" y="1938600"/>
            <a:ext cx="155880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4"/>
          <p:cNvSpPr/>
          <p:nvPr/>
        </p:nvSpPr>
        <p:spPr>
          <a:xfrm>
            <a:off x="7543800" y="1965960"/>
            <a:ext cx="1449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Configuration Context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5"/>
          <p:cNvSpPr/>
          <p:nvPr/>
        </p:nvSpPr>
        <p:spPr>
          <a:xfrm>
            <a:off x="9139320" y="1938600"/>
            <a:ext cx="140796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6"/>
          <p:cNvSpPr/>
          <p:nvPr/>
        </p:nvSpPr>
        <p:spPr>
          <a:xfrm>
            <a:off x="9194400" y="1965960"/>
            <a:ext cx="1298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Applicability Rule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7"/>
          <p:cNvSpPr/>
          <p:nvPr/>
        </p:nvSpPr>
        <p:spPr>
          <a:xfrm>
            <a:off x="2788920" y="2286000"/>
            <a:ext cx="176004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8"/>
          <p:cNvSpPr/>
          <p:nvPr/>
        </p:nvSpPr>
        <p:spPr>
          <a:xfrm>
            <a:off x="2843640" y="2313360"/>
            <a:ext cx="1650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Effectivity Specification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9"/>
          <p:cNvSpPr/>
          <p:nvPr/>
        </p:nvSpPr>
        <p:spPr>
          <a:xfrm>
            <a:off x="640080" y="2770560"/>
            <a:ext cx="10899360" cy="840960"/>
          </a:xfrm>
          <a:prstGeom prst="roundRect">
            <a:avLst>
              <a:gd name="adj" fmla="val 8696"/>
            </a:avLst>
          </a:prstGeom>
          <a:solidFill>
            <a:srgbClr val="E5F1F0"/>
          </a:solidFill>
          <a:ln w="12600">
            <a:solidFill>
              <a:srgbClr val="C9D3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20"/>
          <p:cNvSpPr/>
          <p:nvPr/>
        </p:nvSpPr>
        <p:spPr>
          <a:xfrm>
            <a:off x="640080" y="2770560"/>
            <a:ext cx="91080" cy="840960"/>
          </a:xfrm>
          <a:prstGeom prst="rect">
            <a:avLst/>
          </a:prstGeom>
          <a:solidFill>
            <a:srgbClr val="1F7A7A"/>
          </a:solidFill>
          <a:ln w="12600">
            <a:solidFill>
              <a:srgbClr val="1F7A7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1"/>
          <p:cNvSpPr/>
          <p:nvPr/>
        </p:nvSpPr>
        <p:spPr>
          <a:xfrm>
            <a:off x="841320" y="2889360"/>
            <a:ext cx="187416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2 · Change &amp; evaluated state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2"/>
          <p:cNvSpPr/>
          <p:nvPr/>
        </p:nvSpPr>
        <p:spPr>
          <a:xfrm>
            <a:off x="2788920" y="2926080"/>
            <a:ext cx="109692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3"/>
          <p:cNvSpPr/>
          <p:nvPr/>
        </p:nvSpPr>
        <p:spPr>
          <a:xfrm>
            <a:off x="2843640" y="2953440"/>
            <a:ext cx="987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Change Case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4"/>
          <p:cNvSpPr/>
          <p:nvPr/>
        </p:nvSpPr>
        <p:spPr>
          <a:xfrm>
            <a:off x="3977640" y="2926080"/>
            <a:ext cx="150840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5"/>
          <p:cNvSpPr/>
          <p:nvPr/>
        </p:nvSpPr>
        <p:spPr>
          <a:xfrm>
            <a:off x="4032360" y="2953440"/>
            <a:ext cx="1398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Change Item Identity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26"/>
          <p:cNvSpPr/>
          <p:nvPr/>
        </p:nvSpPr>
        <p:spPr>
          <a:xfrm>
            <a:off x="5577840" y="2926080"/>
            <a:ext cx="150840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7"/>
          <p:cNvSpPr/>
          <p:nvPr/>
        </p:nvSpPr>
        <p:spPr>
          <a:xfrm>
            <a:off x="5632560" y="2953440"/>
            <a:ext cx="1398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Change Item Revision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8"/>
          <p:cNvSpPr/>
          <p:nvPr/>
        </p:nvSpPr>
        <p:spPr>
          <a:xfrm>
            <a:off x="7178040" y="2926080"/>
            <a:ext cx="145800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9"/>
          <p:cNvSpPr/>
          <p:nvPr/>
        </p:nvSpPr>
        <p:spPr>
          <a:xfrm>
            <a:off x="7232760" y="2953440"/>
            <a:ext cx="1348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Assessment Baseline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30"/>
          <p:cNvSpPr/>
          <p:nvPr/>
        </p:nvSpPr>
        <p:spPr>
          <a:xfrm>
            <a:off x="8727840" y="2926080"/>
            <a:ext cx="130716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1"/>
          <p:cNvSpPr/>
          <p:nvPr/>
        </p:nvSpPr>
        <p:spPr>
          <a:xfrm>
            <a:off x="8782920" y="2953440"/>
            <a:ext cx="1197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Overlay Revision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32"/>
          <p:cNvSpPr/>
          <p:nvPr/>
        </p:nvSpPr>
        <p:spPr>
          <a:xfrm>
            <a:off x="2788920" y="3273480"/>
            <a:ext cx="176004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33"/>
          <p:cNvSpPr/>
          <p:nvPr/>
        </p:nvSpPr>
        <p:spPr>
          <a:xfrm>
            <a:off x="2843640" y="3300840"/>
            <a:ext cx="1650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Impact-analysis Execution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34"/>
          <p:cNvSpPr/>
          <p:nvPr/>
        </p:nvSpPr>
        <p:spPr>
          <a:xfrm>
            <a:off x="640080" y="3758040"/>
            <a:ext cx="10899360" cy="840960"/>
          </a:xfrm>
          <a:prstGeom prst="roundRect">
            <a:avLst>
              <a:gd name="adj" fmla="val 8696"/>
            </a:avLst>
          </a:prstGeom>
          <a:solidFill>
            <a:srgbClr val="F5F7F9"/>
          </a:solidFill>
          <a:ln w="12600">
            <a:solidFill>
              <a:srgbClr val="C9D3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35"/>
          <p:cNvSpPr/>
          <p:nvPr/>
        </p:nvSpPr>
        <p:spPr>
          <a:xfrm>
            <a:off x="640080" y="3758040"/>
            <a:ext cx="91080" cy="840960"/>
          </a:xfrm>
          <a:prstGeom prst="rect">
            <a:avLst/>
          </a:prstGeom>
          <a:solidFill>
            <a:srgbClr val="2F4A5E"/>
          </a:solidFill>
          <a:ln w="12600">
            <a:solidFill>
              <a:srgbClr val="2F4A5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6"/>
          <p:cNvSpPr/>
          <p:nvPr/>
        </p:nvSpPr>
        <p:spPr>
          <a:xfrm>
            <a:off x="841320" y="3877200"/>
            <a:ext cx="187416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3 · Impact &amp; assessment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37"/>
          <p:cNvSpPr/>
          <p:nvPr/>
        </p:nvSpPr>
        <p:spPr>
          <a:xfrm>
            <a:off x="2788920" y="3913560"/>
            <a:ext cx="130716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38"/>
          <p:cNvSpPr/>
          <p:nvPr/>
        </p:nvSpPr>
        <p:spPr>
          <a:xfrm>
            <a:off x="2843640" y="3940920"/>
            <a:ext cx="1197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Impact Candidate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39"/>
          <p:cNvSpPr/>
          <p:nvPr/>
        </p:nvSpPr>
        <p:spPr>
          <a:xfrm>
            <a:off x="4187880" y="3913560"/>
            <a:ext cx="186048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40"/>
          <p:cNvSpPr/>
          <p:nvPr/>
        </p:nvSpPr>
        <p:spPr>
          <a:xfrm>
            <a:off x="4242960" y="3940920"/>
            <a:ext cx="1750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Impact Candidate Provenance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41"/>
          <p:cNvSpPr/>
          <p:nvPr/>
        </p:nvSpPr>
        <p:spPr>
          <a:xfrm>
            <a:off x="6140160" y="3913560"/>
            <a:ext cx="155880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42"/>
          <p:cNvSpPr/>
          <p:nvPr/>
        </p:nvSpPr>
        <p:spPr>
          <a:xfrm>
            <a:off x="6195240" y="3940920"/>
            <a:ext cx="1449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Assessment Obligation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43"/>
          <p:cNvSpPr/>
          <p:nvPr/>
        </p:nvSpPr>
        <p:spPr>
          <a:xfrm>
            <a:off x="7790760" y="3913560"/>
            <a:ext cx="109692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44"/>
          <p:cNvSpPr/>
          <p:nvPr/>
        </p:nvSpPr>
        <p:spPr>
          <a:xfrm>
            <a:off x="7845480" y="3940920"/>
            <a:ext cx="987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Assessment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45"/>
          <p:cNvSpPr/>
          <p:nvPr/>
        </p:nvSpPr>
        <p:spPr>
          <a:xfrm>
            <a:off x="8979480" y="3913560"/>
            <a:ext cx="160884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46"/>
          <p:cNvSpPr/>
          <p:nvPr/>
        </p:nvSpPr>
        <p:spPr>
          <a:xfrm>
            <a:off x="9034200" y="3940920"/>
            <a:ext cx="1499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Requirement Conclusion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47"/>
          <p:cNvSpPr/>
          <p:nvPr/>
        </p:nvSpPr>
        <p:spPr>
          <a:xfrm>
            <a:off x="2788920" y="4260960"/>
            <a:ext cx="165924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48"/>
          <p:cNvSpPr/>
          <p:nvPr/>
        </p:nvSpPr>
        <p:spPr>
          <a:xfrm>
            <a:off x="2843640" y="4288680"/>
            <a:ext cx="1549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Assessment Evidence Use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49"/>
          <p:cNvSpPr/>
          <p:nvPr/>
        </p:nvSpPr>
        <p:spPr>
          <a:xfrm>
            <a:off x="4539960" y="4260960"/>
            <a:ext cx="206172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50"/>
          <p:cNvSpPr/>
          <p:nvPr/>
        </p:nvSpPr>
        <p:spPr>
          <a:xfrm>
            <a:off x="4595040" y="4288680"/>
            <a:ext cx="1951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Assessment Reuse Classification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51"/>
          <p:cNvSpPr/>
          <p:nvPr/>
        </p:nvSpPr>
        <p:spPr>
          <a:xfrm>
            <a:off x="640080" y="4745880"/>
            <a:ext cx="10899360" cy="840960"/>
          </a:xfrm>
          <a:prstGeom prst="roundRect">
            <a:avLst>
              <a:gd name="adj" fmla="val 8696"/>
            </a:avLst>
          </a:prstGeom>
          <a:solidFill>
            <a:srgbClr val="E8F1EB"/>
          </a:solidFill>
          <a:ln w="12600">
            <a:solidFill>
              <a:srgbClr val="C9D3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52"/>
          <p:cNvSpPr/>
          <p:nvPr/>
        </p:nvSpPr>
        <p:spPr>
          <a:xfrm>
            <a:off x="640080" y="4745880"/>
            <a:ext cx="91080" cy="840960"/>
          </a:xfrm>
          <a:prstGeom prst="rect">
            <a:avLst/>
          </a:prstGeom>
          <a:solidFill>
            <a:srgbClr val="3F7D5A"/>
          </a:solidFill>
          <a:ln w="12600">
            <a:solidFill>
              <a:srgbClr val="3F7D5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53"/>
          <p:cNvSpPr/>
          <p:nvPr/>
        </p:nvSpPr>
        <p:spPr>
          <a:xfrm>
            <a:off x="841320" y="4864680"/>
            <a:ext cx="187416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4 · Decision &amp; audit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54"/>
          <p:cNvSpPr/>
          <p:nvPr/>
        </p:nvSpPr>
        <p:spPr>
          <a:xfrm>
            <a:off x="2788920" y="4901040"/>
            <a:ext cx="109692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55"/>
          <p:cNvSpPr/>
          <p:nvPr/>
        </p:nvSpPr>
        <p:spPr>
          <a:xfrm>
            <a:off x="2843640" y="4928760"/>
            <a:ext cx="987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Open Item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56"/>
          <p:cNvSpPr/>
          <p:nvPr/>
        </p:nvSpPr>
        <p:spPr>
          <a:xfrm>
            <a:off x="3977640" y="4901040"/>
            <a:ext cx="155880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57"/>
          <p:cNvSpPr/>
          <p:nvPr/>
        </p:nvSpPr>
        <p:spPr>
          <a:xfrm>
            <a:off x="4032360" y="4928760"/>
            <a:ext cx="1449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Process-history Entry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58"/>
          <p:cNvSpPr/>
          <p:nvPr/>
        </p:nvSpPr>
        <p:spPr>
          <a:xfrm>
            <a:off x="5628240" y="4901040"/>
            <a:ext cx="125712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59"/>
          <p:cNvSpPr/>
          <p:nvPr/>
        </p:nvSpPr>
        <p:spPr>
          <a:xfrm>
            <a:off x="5682960" y="4928760"/>
            <a:ext cx="1147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Decision Record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60"/>
          <p:cNvSpPr/>
          <p:nvPr/>
        </p:nvSpPr>
        <p:spPr>
          <a:xfrm>
            <a:off x="6976800" y="4901040"/>
            <a:ext cx="145800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61"/>
          <p:cNvSpPr/>
          <p:nvPr/>
        </p:nvSpPr>
        <p:spPr>
          <a:xfrm>
            <a:off x="7031880" y="4928760"/>
            <a:ext cx="1348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Decision Scope Item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62"/>
          <p:cNvSpPr/>
          <p:nvPr/>
        </p:nvSpPr>
        <p:spPr>
          <a:xfrm>
            <a:off x="8526960" y="4901040"/>
            <a:ext cx="186048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63"/>
          <p:cNvSpPr/>
          <p:nvPr/>
        </p:nvSpPr>
        <p:spPr>
          <a:xfrm>
            <a:off x="8581680" y="4928760"/>
            <a:ext cx="1750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Decision Support Assessment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64"/>
          <p:cNvSpPr/>
          <p:nvPr/>
        </p:nvSpPr>
        <p:spPr>
          <a:xfrm>
            <a:off x="2788920" y="5248800"/>
            <a:ext cx="140796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65"/>
          <p:cNvSpPr/>
          <p:nvPr/>
        </p:nvSpPr>
        <p:spPr>
          <a:xfrm>
            <a:off x="2843640" y="5276160"/>
            <a:ext cx="1298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Decision Condition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66"/>
          <p:cNvSpPr/>
          <p:nvPr/>
        </p:nvSpPr>
        <p:spPr>
          <a:xfrm>
            <a:off x="4288680" y="5248800"/>
            <a:ext cx="1156320" cy="28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D3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67"/>
          <p:cNvSpPr/>
          <p:nvPr/>
        </p:nvSpPr>
        <p:spPr>
          <a:xfrm>
            <a:off x="4343400" y="5276160"/>
            <a:ext cx="1046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Handover View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68"/>
          <p:cNvSpPr/>
          <p:nvPr/>
        </p:nvSpPr>
        <p:spPr>
          <a:xfrm>
            <a:off x="786240" y="5779080"/>
            <a:ext cx="1965600" cy="328680"/>
          </a:xfrm>
          <a:prstGeom prst="roundRect">
            <a:avLst>
              <a:gd name="adj" fmla="val 16667"/>
            </a:avLst>
          </a:prstGeom>
          <a:solidFill>
            <a:srgbClr val="2F4A5E"/>
          </a:solidFill>
          <a:ln w="10080">
            <a:solidFill>
              <a:srgbClr val="2F4A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69"/>
          <p:cNvSpPr/>
          <p:nvPr/>
        </p:nvSpPr>
        <p:spPr>
          <a:xfrm>
            <a:off x="841320" y="5806440"/>
            <a:ext cx="185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CASE-LOCAL LINEAGE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70"/>
          <p:cNvSpPr/>
          <p:nvPr/>
        </p:nvSpPr>
        <p:spPr>
          <a:xfrm>
            <a:off x="2788920" y="5897700"/>
            <a:ext cx="3776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1" u="none" strike="noStrike" dirty="0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All release-critical associations resolve to one Change Case.</a:t>
            </a:r>
            <a:endParaRPr lang="en-US" sz="116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71"/>
          <p:cNvSpPr/>
          <p:nvPr/>
        </p:nvSpPr>
        <p:spPr>
          <a:xfrm>
            <a:off x="6565320" y="5779080"/>
            <a:ext cx="1481040" cy="328680"/>
          </a:xfrm>
          <a:prstGeom prst="roundRect">
            <a:avLst>
              <a:gd name="adj" fmla="val 16667"/>
            </a:avLst>
          </a:prstGeom>
          <a:solidFill>
            <a:srgbClr val="F7EFE1"/>
          </a:solidFill>
          <a:ln w="10080">
            <a:solidFill>
              <a:srgbClr val="E4C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72"/>
          <p:cNvSpPr/>
          <p:nvPr/>
        </p:nvSpPr>
        <p:spPr>
          <a:xfrm>
            <a:off x="6620400" y="580644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B6792A"/>
                </a:solidFill>
                <a:effectLst/>
                <a:uFillTx/>
                <a:latin typeface="Lato"/>
                <a:ea typeface="Lato"/>
              </a:rPr>
              <a:t>EVIDENCE INFORMS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73"/>
          <p:cNvSpPr/>
          <p:nvPr/>
        </p:nvSpPr>
        <p:spPr>
          <a:xfrm>
            <a:off x="8183880" y="5779080"/>
            <a:ext cx="2011320" cy="328680"/>
          </a:xfrm>
          <a:prstGeom prst="roundRect">
            <a:avLst>
              <a:gd name="adj" fmla="val 16667"/>
            </a:avLst>
          </a:prstGeom>
          <a:solidFill>
            <a:srgbClr val="E5F1F0"/>
          </a:solidFill>
          <a:ln w="10080">
            <a:solidFill>
              <a:srgbClr val="BBD6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74"/>
          <p:cNvSpPr/>
          <p:nvPr/>
        </p:nvSpPr>
        <p:spPr>
          <a:xfrm>
            <a:off x="8238600" y="5806440"/>
            <a:ext cx="1901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ASSESSMENT CONCLUDES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75"/>
          <p:cNvSpPr/>
          <p:nvPr/>
        </p:nvSpPr>
        <p:spPr>
          <a:xfrm>
            <a:off x="10314360" y="5797440"/>
            <a:ext cx="1142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1" u="none" strike="noStrike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Only Assessment owns a Requirement Conclusion.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sldNum" idx="10"/>
          </p:nvPr>
        </p:nvSpPr>
        <p:spPr>
          <a:xfrm>
            <a:off x="11201400" y="6501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ACDBC02-A819-4C44-823B-5C7251B3AD0E}" type="slidenum">
              <a: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6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Text 0"/>
          <p:cNvSpPr/>
          <p:nvPr/>
        </p:nvSpPr>
        <p:spPr>
          <a:xfrm>
            <a:off x="530280" y="25596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139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CANONICAL DIAGRAM 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"/>
          <p:cNvSpPr/>
          <p:nvPr/>
        </p:nvSpPr>
        <p:spPr>
          <a:xfrm>
            <a:off x="530280" y="48456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Decision readiness is not one gate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2"/>
          <p:cNvSpPr/>
          <p:nvPr/>
        </p:nvSpPr>
        <p:spPr>
          <a:xfrm>
            <a:off x="530280" y="1042200"/>
            <a:ext cx="11109960" cy="360"/>
          </a:xfrm>
          <a:prstGeom prst="line">
            <a:avLst/>
          </a:prstGeom>
          <a:ln w="12600">
            <a:solidFill>
              <a:srgbClr val="C9D3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3"/>
          <p:cNvSpPr/>
          <p:nvPr/>
        </p:nvSpPr>
        <p:spPr>
          <a:xfrm>
            <a:off x="594360" y="117036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Package completeness, substantive eligibility, authority sufficiency and terminal disposition answer different questions.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4"/>
          <p:cNvSpPr/>
          <p:nvPr/>
        </p:nvSpPr>
        <p:spPr>
          <a:xfrm>
            <a:off x="4187880" y="1737360"/>
            <a:ext cx="3821760" cy="676440"/>
          </a:xfrm>
          <a:prstGeom prst="roundRect">
            <a:avLst>
              <a:gd name="adj" fmla="val 10811"/>
            </a:avLst>
          </a:prstGeom>
          <a:solidFill>
            <a:srgbClr val="EAF1F5"/>
          </a:solidFill>
          <a:ln w="12600">
            <a:solidFill>
              <a:srgbClr val="C4D6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5"/>
          <p:cNvSpPr/>
          <p:nvPr/>
        </p:nvSpPr>
        <p:spPr>
          <a:xfrm>
            <a:off x="4443840" y="1874520"/>
            <a:ext cx="968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B6F8F"/>
                </a:solidFill>
                <a:effectLst/>
                <a:uFillTx/>
                <a:latin typeface="Lato"/>
                <a:ea typeface="Lato"/>
              </a:rPr>
              <a:t>Gate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6"/>
          <p:cNvSpPr/>
          <p:nvPr/>
        </p:nvSpPr>
        <p:spPr>
          <a:xfrm>
            <a:off x="5440680" y="1874520"/>
            <a:ext cx="22582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Decision Package Complete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7"/>
          <p:cNvSpPr/>
          <p:nvPr/>
        </p:nvSpPr>
        <p:spPr>
          <a:xfrm>
            <a:off x="6098760" y="2423160"/>
            <a:ext cx="360" cy="301680"/>
          </a:xfrm>
          <a:prstGeom prst="line">
            <a:avLst/>
          </a:prstGeom>
          <a:ln w="1764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8"/>
          <p:cNvSpPr/>
          <p:nvPr/>
        </p:nvSpPr>
        <p:spPr>
          <a:xfrm>
            <a:off x="4187880" y="2743200"/>
            <a:ext cx="3821760" cy="712800"/>
          </a:xfrm>
          <a:prstGeom prst="roundRect">
            <a:avLst>
              <a:gd name="adj" fmla="val 10256"/>
            </a:avLst>
          </a:prstGeom>
          <a:solidFill>
            <a:srgbClr val="E5F1F0"/>
          </a:solidFill>
          <a:ln w="12600">
            <a:solidFill>
              <a:srgbClr val="BCD8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9"/>
          <p:cNvSpPr/>
          <p:nvPr/>
        </p:nvSpPr>
        <p:spPr>
          <a:xfrm>
            <a:off x="4434840" y="2898720"/>
            <a:ext cx="2029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1" u="none" strike="noStrike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Authorisation Eligibility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0"/>
          <p:cNvSpPr/>
          <p:nvPr/>
        </p:nvSpPr>
        <p:spPr>
          <a:xfrm>
            <a:off x="6455520" y="2907720"/>
            <a:ext cx="1252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substantive blockers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1"/>
          <p:cNvSpPr/>
          <p:nvPr/>
        </p:nvSpPr>
        <p:spPr>
          <a:xfrm>
            <a:off x="6098760" y="3465360"/>
            <a:ext cx="360" cy="301680"/>
          </a:xfrm>
          <a:prstGeom prst="line">
            <a:avLst/>
          </a:prstGeom>
          <a:ln w="1764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2"/>
          <p:cNvSpPr/>
          <p:nvPr/>
        </p:nvSpPr>
        <p:spPr>
          <a:xfrm>
            <a:off x="4187880" y="3785760"/>
            <a:ext cx="3821760" cy="785880"/>
          </a:xfrm>
          <a:prstGeom prst="roundRect">
            <a:avLst>
              <a:gd name="adj" fmla="val 9302"/>
            </a:avLst>
          </a:prstGeom>
          <a:solidFill>
            <a:srgbClr val="F5F7F9"/>
          </a:solidFill>
          <a:ln w="12600">
            <a:solidFill>
              <a:srgbClr val="CAD4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3"/>
          <p:cNvSpPr/>
          <p:nvPr/>
        </p:nvSpPr>
        <p:spPr>
          <a:xfrm>
            <a:off x="4471560" y="394092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1" u="none" strike="noStrike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Authority sufficiency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4"/>
          <p:cNvSpPr/>
          <p:nvPr/>
        </p:nvSpPr>
        <p:spPr>
          <a:xfrm>
            <a:off x="6217920" y="3895200"/>
            <a:ext cx="1490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Required Authority Level vs Current Authority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5"/>
          <p:cNvSpPr/>
          <p:nvPr/>
        </p:nvSpPr>
        <p:spPr>
          <a:xfrm flipH="1">
            <a:off x="3154680" y="2075400"/>
            <a:ext cx="1014840" cy="360"/>
          </a:xfrm>
          <a:prstGeom prst="line">
            <a:avLst/>
          </a:prstGeom>
          <a:ln w="19080">
            <a:solidFill>
              <a:srgbClr val="B6792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16"/>
          <p:cNvSpPr/>
          <p:nvPr/>
        </p:nvSpPr>
        <p:spPr>
          <a:xfrm>
            <a:off x="667440" y="1618560"/>
            <a:ext cx="2395440" cy="932400"/>
          </a:xfrm>
          <a:prstGeom prst="roundRect">
            <a:avLst>
              <a:gd name="adj" fmla="val 7843"/>
            </a:avLst>
          </a:prstGeom>
          <a:solidFill>
            <a:srgbClr val="F7EFE1"/>
          </a:solidFill>
          <a:ln w="12600">
            <a:solidFill>
              <a:srgbClr val="E4C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7"/>
          <p:cNvSpPr/>
          <p:nvPr/>
        </p:nvSpPr>
        <p:spPr>
          <a:xfrm>
            <a:off x="905400" y="179208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1" u="none" strike="noStrike">
                <a:solidFill>
                  <a:srgbClr val="B6792A"/>
                </a:solidFill>
                <a:effectLst/>
                <a:uFillTx/>
                <a:latin typeface="Lato"/>
                <a:ea typeface="Lato"/>
              </a:rPr>
              <a:t>Gate B = Incomplete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8"/>
          <p:cNvSpPr/>
          <p:nvPr/>
        </p:nvSpPr>
        <p:spPr>
          <a:xfrm>
            <a:off x="896040" y="2103120"/>
            <a:ext cx="193824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authorised outcome unavailable at this stop point · Case remains open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9"/>
          <p:cNvSpPr/>
          <p:nvPr/>
        </p:nvSpPr>
        <p:spPr>
          <a:xfrm flipH="1">
            <a:off x="3154680" y="3099600"/>
            <a:ext cx="1014840" cy="360"/>
          </a:xfrm>
          <a:prstGeom prst="line">
            <a:avLst/>
          </a:prstGeom>
          <a:ln w="19080">
            <a:solidFill>
              <a:srgbClr val="A9505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20"/>
          <p:cNvSpPr/>
          <p:nvPr/>
        </p:nvSpPr>
        <p:spPr>
          <a:xfrm>
            <a:off x="667440" y="2743200"/>
            <a:ext cx="2395440" cy="932400"/>
          </a:xfrm>
          <a:prstGeom prst="roundRect">
            <a:avLst>
              <a:gd name="adj" fmla="val 7843"/>
            </a:avLst>
          </a:prstGeom>
          <a:solidFill>
            <a:srgbClr val="F6E9E9"/>
          </a:solidFill>
          <a:ln w="12600">
            <a:solidFill>
              <a:srgbClr val="E3BE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1"/>
          <p:cNvSpPr/>
          <p:nvPr/>
        </p:nvSpPr>
        <p:spPr>
          <a:xfrm>
            <a:off x="887040" y="2917080"/>
            <a:ext cx="1956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1" u="none" strike="noStrike">
                <a:solidFill>
                  <a:srgbClr val="A95050"/>
                </a:solidFill>
                <a:effectLst/>
                <a:uFillTx/>
                <a:latin typeface="Lato"/>
                <a:ea typeface="Lato"/>
              </a:rPr>
              <a:t>Eligibility = Blocked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2"/>
          <p:cNvSpPr/>
          <p:nvPr/>
        </p:nvSpPr>
        <p:spPr>
          <a:xfrm>
            <a:off x="877680" y="3227760"/>
            <a:ext cx="197460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authorised outcome not permitted · conditions cannot bypass mandatory blockers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23"/>
          <p:cNvSpPr/>
          <p:nvPr/>
        </p:nvSpPr>
        <p:spPr>
          <a:xfrm flipV="1">
            <a:off x="8028360" y="4169160"/>
            <a:ext cx="823320" cy="9360"/>
          </a:xfrm>
          <a:prstGeom prst="line">
            <a:avLst/>
          </a:prstGeom>
          <a:ln w="21600">
            <a:solidFill>
              <a:srgbClr val="B6792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99EC39D-76AE-4150-875F-5F25A8188DC1}"/>
              </a:ext>
            </a:extLst>
          </p:cNvPr>
          <p:cNvGrpSpPr/>
          <p:nvPr/>
        </p:nvGrpSpPr>
        <p:grpSpPr>
          <a:xfrm>
            <a:off x="8860680" y="3616200"/>
            <a:ext cx="2706120" cy="1078560"/>
            <a:chOff x="8805600" y="3182040"/>
            <a:chExt cx="2706120" cy="1078560"/>
          </a:xfrm>
        </p:grpSpPr>
        <p:sp>
          <p:nvSpPr>
            <p:cNvPr id="345" name="Shape 24"/>
            <p:cNvSpPr/>
            <p:nvPr/>
          </p:nvSpPr>
          <p:spPr>
            <a:xfrm>
              <a:off x="8805600" y="3182040"/>
              <a:ext cx="2706120" cy="1078560"/>
            </a:xfrm>
            <a:prstGeom prst="roundRect">
              <a:avLst>
                <a:gd name="adj" fmla="val 6780"/>
              </a:avLst>
            </a:prstGeom>
            <a:solidFill>
              <a:srgbClr val="F7EFE1"/>
            </a:solidFill>
            <a:ln w="12600">
              <a:solidFill>
                <a:srgbClr val="E4C99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6" name="Text 25"/>
            <p:cNvSpPr/>
            <p:nvPr/>
          </p:nvSpPr>
          <p:spPr>
            <a:xfrm>
              <a:off x="9061560" y="3374280"/>
              <a:ext cx="2194200" cy="21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60" b="1" u="none" strike="noStrike">
                  <a:solidFill>
                    <a:srgbClr val="B6792A"/>
                  </a:solidFill>
                  <a:effectLst/>
                  <a:uFillTx/>
                  <a:latin typeface="Lato"/>
                  <a:ea typeface="Lato"/>
                </a:rPr>
                <a:t>Required &gt; Current</a:t>
              </a:r>
              <a:endParaRPr lang="en-US" sz="13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" name="Text 26"/>
            <p:cNvSpPr/>
            <p:nvPr/>
          </p:nvSpPr>
          <p:spPr>
            <a:xfrm>
              <a:off x="8988480" y="3684960"/>
              <a:ext cx="2331360" cy="21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20364A"/>
                  </a:solidFill>
                  <a:effectLst/>
                  <a:uFillTx/>
                  <a:latin typeface="Lato"/>
                  <a:ea typeface="Lato"/>
                </a:rPr>
                <a:t>Process-history Entry: Escalated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8" name="Text 27"/>
            <p:cNvSpPr/>
            <p:nvPr/>
          </p:nvSpPr>
          <p:spPr>
            <a:xfrm>
              <a:off x="9061560" y="3950280"/>
              <a:ext cx="217584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80" b="0" u="none" strike="noStrike">
                  <a:solidFill>
                    <a:srgbClr val="60717E"/>
                  </a:solidFill>
                  <a:effectLst/>
                  <a:uFillTx/>
                  <a:latin typeface="Lato"/>
                  <a:ea typeface="Lato"/>
                </a:rPr>
                <a:t>non-terminal · no Decision Record</a:t>
              </a:r>
              <a:endParaRPr lang="en-US" sz="88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49" name="Shape 28"/>
          <p:cNvSpPr/>
          <p:nvPr/>
        </p:nvSpPr>
        <p:spPr>
          <a:xfrm>
            <a:off x="6098760" y="4590000"/>
            <a:ext cx="360" cy="256320"/>
          </a:xfrm>
          <a:prstGeom prst="line">
            <a:avLst/>
          </a:prstGeom>
          <a:ln w="20160">
            <a:solidFill>
              <a:srgbClr val="3F7D5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29"/>
          <p:cNvSpPr/>
          <p:nvPr/>
        </p:nvSpPr>
        <p:spPr>
          <a:xfrm>
            <a:off x="4187880" y="4864680"/>
            <a:ext cx="3821760" cy="621360"/>
          </a:xfrm>
          <a:prstGeom prst="roundRect">
            <a:avLst>
              <a:gd name="adj" fmla="val 11765"/>
            </a:avLst>
          </a:prstGeom>
          <a:solidFill>
            <a:srgbClr val="E8F1EB"/>
          </a:solidFill>
          <a:ln w="12600">
            <a:solidFill>
              <a:srgbClr val="C5DCC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30"/>
          <p:cNvSpPr/>
          <p:nvPr/>
        </p:nvSpPr>
        <p:spPr>
          <a:xfrm>
            <a:off x="4462200" y="4965120"/>
            <a:ext cx="32641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1" u="none" strike="noStrike">
                <a:solidFill>
                  <a:srgbClr val="3F7D5A"/>
                </a:solidFill>
                <a:effectLst/>
                <a:uFillTx/>
                <a:latin typeface="Lato"/>
                <a:ea typeface="Lato"/>
              </a:rPr>
              <a:t>Required &lt;= Current  -&gt;  decision_permitted = true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31"/>
          <p:cNvSpPr/>
          <p:nvPr/>
        </p:nvSpPr>
        <p:spPr>
          <a:xfrm>
            <a:off x="4800600" y="5212080"/>
            <a:ext cx="25966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outcome still not selected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32"/>
          <p:cNvSpPr/>
          <p:nvPr/>
        </p:nvSpPr>
        <p:spPr>
          <a:xfrm>
            <a:off x="6098760" y="5495400"/>
            <a:ext cx="360" cy="201240"/>
          </a:xfrm>
          <a:prstGeom prst="line">
            <a:avLst/>
          </a:prstGeom>
          <a:ln w="19080">
            <a:solidFill>
              <a:srgbClr val="3F7D5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33"/>
          <p:cNvSpPr/>
          <p:nvPr/>
        </p:nvSpPr>
        <p:spPr>
          <a:xfrm>
            <a:off x="4992480" y="5715000"/>
            <a:ext cx="2212560" cy="484200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600">
            <a:solidFill>
              <a:srgbClr val="C7D7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34"/>
          <p:cNvSpPr/>
          <p:nvPr/>
        </p:nvSpPr>
        <p:spPr>
          <a:xfrm>
            <a:off x="5184720" y="5815440"/>
            <a:ext cx="1828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Explicit terminal authority disposition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35"/>
          <p:cNvSpPr/>
          <p:nvPr/>
        </p:nvSpPr>
        <p:spPr>
          <a:xfrm>
            <a:off x="7214400" y="5961600"/>
            <a:ext cx="255960" cy="360"/>
          </a:xfrm>
          <a:prstGeom prst="line">
            <a:avLst/>
          </a:prstGeom>
          <a:ln w="19080">
            <a:solidFill>
              <a:srgbClr val="3F7D5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36"/>
          <p:cNvSpPr/>
          <p:nvPr/>
        </p:nvSpPr>
        <p:spPr>
          <a:xfrm>
            <a:off x="7489080" y="5715000"/>
            <a:ext cx="1700280" cy="484200"/>
          </a:xfrm>
          <a:prstGeom prst="roundRect">
            <a:avLst>
              <a:gd name="adj" fmla="val 15094"/>
            </a:avLst>
          </a:prstGeom>
          <a:solidFill>
            <a:srgbClr val="E8F1EB"/>
          </a:solidFill>
          <a:ln w="12600">
            <a:solidFill>
              <a:srgbClr val="C5DCC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37"/>
          <p:cNvSpPr/>
          <p:nvPr/>
        </p:nvSpPr>
        <p:spPr>
          <a:xfrm>
            <a:off x="7680960" y="5815440"/>
            <a:ext cx="1316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3F7D5A"/>
                </a:solidFill>
                <a:effectLst/>
                <a:uFillTx/>
                <a:latin typeface="Lato"/>
                <a:ea typeface="Lato"/>
              </a:rPr>
              <a:t>Decision Record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38"/>
          <p:cNvSpPr/>
          <p:nvPr/>
        </p:nvSpPr>
        <p:spPr>
          <a:xfrm>
            <a:off x="9198720" y="5961600"/>
            <a:ext cx="246960" cy="360"/>
          </a:xfrm>
          <a:prstGeom prst="line">
            <a:avLst/>
          </a:prstGeom>
          <a:ln w="19080">
            <a:solidFill>
              <a:srgbClr val="3F7D5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39"/>
          <p:cNvSpPr/>
          <p:nvPr/>
        </p:nvSpPr>
        <p:spPr>
          <a:xfrm>
            <a:off x="9464040" y="5715000"/>
            <a:ext cx="2130120" cy="484200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600">
            <a:solidFill>
              <a:srgbClr val="C7D7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40"/>
          <p:cNvSpPr/>
          <p:nvPr/>
        </p:nvSpPr>
        <p:spPr>
          <a:xfrm>
            <a:off x="9628560" y="5797440"/>
            <a:ext cx="180108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Handover View for authorised Decision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41"/>
          <p:cNvSpPr/>
          <p:nvPr/>
        </p:nvSpPr>
        <p:spPr>
          <a:xfrm>
            <a:off x="786240" y="4919400"/>
            <a:ext cx="28159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Rejected has separate frozen preconditions and is not exercised by Scenarios A-C.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1"/>
          <p:cNvSpPr>
            <a:spLocks noGrp="1"/>
          </p:cNvSpPr>
          <p:nvPr>
            <p:ph type="sldNum" idx="11"/>
          </p:nvPr>
        </p:nvSpPr>
        <p:spPr>
          <a:xfrm>
            <a:off x="11201400" y="6501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3CDC12E-CC84-4741-9D1B-0D9F57FAFCD7}" type="slidenum">
              <a: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7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 0"/>
          <p:cNvSpPr/>
          <p:nvPr/>
        </p:nvSpPr>
        <p:spPr>
          <a:xfrm>
            <a:off x="530280" y="25596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139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SCENARIO PROOF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"/>
          <p:cNvSpPr/>
          <p:nvPr/>
        </p:nvSpPr>
        <p:spPr>
          <a:xfrm>
            <a:off x="530280" y="48456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Scenarios A-C: three architectural proofs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2"/>
          <p:cNvSpPr/>
          <p:nvPr/>
        </p:nvSpPr>
        <p:spPr>
          <a:xfrm>
            <a:off x="530280" y="1042200"/>
            <a:ext cx="11109960" cy="360"/>
          </a:xfrm>
          <a:prstGeom prst="line">
            <a:avLst/>
          </a:prstGeom>
          <a:ln w="12600">
            <a:solidFill>
              <a:srgbClr val="C9D3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3"/>
          <p:cNvSpPr/>
          <p:nvPr/>
        </p:nvSpPr>
        <p:spPr>
          <a:xfrm>
            <a:off x="594360" y="117036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The scenarios are independent fixtures that exercise approval, controlled scope revision and non-terminal authority escalation.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4"/>
          <p:cNvSpPr/>
          <p:nvPr/>
        </p:nvSpPr>
        <p:spPr>
          <a:xfrm>
            <a:off x="576000" y="1764720"/>
            <a:ext cx="2953080" cy="4059720"/>
          </a:xfrm>
          <a:prstGeom prst="roundRect">
            <a:avLst>
              <a:gd name="adj" fmla="val 2477"/>
            </a:avLst>
          </a:prstGeom>
          <a:solidFill>
            <a:srgbClr val="E8F1EB"/>
          </a:solidFill>
          <a:ln w="12600">
            <a:solidFill>
              <a:srgbClr val="C5DCC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5"/>
          <p:cNvSpPr/>
          <p:nvPr/>
        </p:nvSpPr>
        <p:spPr>
          <a:xfrm>
            <a:off x="905400" y="1974960"/>
            <a:ext cx="2285640" cy="347040"/>
          </a:xfrm>
          <a:prstGeom prst="roundRect">
            <a:avLst>
              <a:gd name="adj" fmla="val 16667"/>
            </a:avLst>
          </a:prstGeom>
          <a:solidFill>
            <a:srgbClr val="3F7D5A"/>
          </a:solidFill>
          <a:ln w="10080">
            <a:solidFill>
              <a:srgbClr val="3F7D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6"/>
          <p:cNvSpPr/>
          <p:nvPr/>
        </p:nvSpPr>
        <p:spPr>
          <a:xfrm>
            <a:off x="960120" y="2002680"/>
            <a:ext cx="2175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A · AUTHORISED CHANGE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7"/>
          <p:cNvSpPr/>
          <p:nvPr/>
        </p:nvSpPr>
        <p:spPr>
          <a:xfrm>
            <a:off x="813960" y="2505600"/>
            <a:ext cx="2486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Complete + eligible + sufficient authority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8"/>
          <p:cNvSpPr/>
          <p:nvPr/>
        </p:nvSpPr>
        <p:spPr>
          <a:xfrm>
            <a:off x="941760" y="3072240"/>
            <a:ext cx="2230920" cy="292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C9D9C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9"/>
          <p:cNvSpPr/>
          <p:nvPr/>
        </p:nvSpPr>
        <p:spPr>
          <a:xfrm>
            <a:off x="996840" y="3099960"/>
            <a:ext cx="2121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Gate B Complete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0"/>
          <p:cNvSpPr/>
          <p:nvPr/>
        </p:nvSpPr>
        <p:spPr>
          <a:xfrm>
            <a:off x="2057400" y="3364920"/>
            <a:ext cx="360" cy="91440"/>
          </a:xfrm>
          <a:prstGeom prst="line">
            <a:avLst/>
          </a:prstGeom>
          <a:ln w="1152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1"/>
          <p:cNvSpPr/>
          <p:nvPr/>
        </p:nvSpPr>
        <p:spPr>
          <a:xfrm>
            <a:off x="941760" y="3465720"/>
            <a:ext cx="2230920" cy="292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C9D9C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2"/>
          <p:cNvSpPr/>
          <p:nvPr/>
        </p:nvSpPr>
        <p:spPr>
          <a:xfrm>
            <a:off x="996840" y="3493080"/>
            <a:ext cx="2121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Eligibility Permitted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3"/>
          <p:cNvSpPr/>
          <p:nvPr/>
        </p:nvSpPr>
        <p:spPr>
          <a:xfrm>
            <a:off x="2057400" y="3758040"/>
            <a:ext cx="360" cy="91440"/>
          </a:xfrm>
          <a:prstGeom prst="line">
            <a:avLst/>
          </a:prstGeom>
          <a:ln w="1152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14"/>
          <p:cNvSpPr/>
          <p:nvPr/>
        </p:nvSpPr>
        <p:spPr>
          <a:xfrm>
            <a:off x="941760" y="3858840"/>
            <a:ext cx="2230920" cy="292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C9D9C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5"/>
          <p:cNvSpPr/>
          <p:nvPr/>
        </p:nvSpPr>
        <p:spPr>
          <a:xfrm>
            <a:off x="996840" y="3886200"/>
            <a:ext cx="2121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Standard = Standard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6"/>
          <p:cNvSpPr/>
          <p:nvPr/>
        </p:nvSpPr>
        <p:spPr>
          <a:xfrm>
            <a:off x="2057400" y="4151160"/>
            <a:ext cx="360" cy="91440"/>
          </a:xfrm>
          <a:prstGeom prst="line">
            <a:avLst/>
          </a:prstGeom>
          <a:ln w="1152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7"/>
          <p:cNvSpPr/>
          <p:nvPr/>
        </p:nvSpPr>
        <p:spPr>
          <a:xfrm>
            <a:off x="941760" y="4251960"/>
            <a:ext cx="2230920" cy="292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C9D9C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8"/>
          <p:cNvSpPr/>
          <p:nvPr/>
        </p:nvSpPr>
        <p:spPr>
          <a:xfrm>
            <a:off x="996840" y="4279320"/>
            <a:ext cx="2121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Explicit authority disposition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9"/>
          <p:cNvSpPr/>
          <p:nvPr/>
        </p:nvSpPr>
        <p:spPr>
          <a:xfrm>
            <a:off x="2057400" y="4544280"/>
            <a:ext cx="360" cy="91440"/>
          </a:xfrm>
          <a:prstGeom prst="line">
            <a:avLst/>
          </a:prstGeom>
          <a:ln w="1152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20"/>
          <p:cNvSpPr/>
          <p:nvPr/>
        </p:nvSpPr>
        <p:spPr>
          <a:xfrm>
            <a:off x="941760" y="4645080"/>
            <a:ext cx="2230920" cy="292320"/>
          </a:xfrm>
          <a:prstGeom prst="roundRect">
            <a:avLst>
              <a:gd name="adj" fmla="val 16667"/>
            </a:avLst>
          </a:prstGeom>
          <a:solidFill>
            <a:srgbClr val="3F7D5A"/>
          </a:solidFill>
          <a:ln w="10080">
            <a:solidFill>
              <a:srgbClr val="3F7D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1"/>
          <p:cNvSpPr/>
          <p:nvPr/>
        </p:nvSpPr>
        <p:spPr>
          <a:xfrm>
            <a:off x="996840" y="4672440"/>
            <a:ext cx="2121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DEC-A01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2"/>
          <p:cNvSpPr/>
          <p:nvPr/>
        </p:nvSpPr>
        <p:spPr>
          <a:xfrm>
            <a:off x="2057400" y="4937760"/>
            <a:ext cx="360" cy="91440"/>
          </a:xfrm>
          <a:prstGeom prst="line">
            <a:avLst/>
          </a:prstGeom>
          <a:ln w="1152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23"/>
          <p:cNvSpPr/>
          <p:nvPr/>
        </p:nvSpPr>
        <p:spPr>
          <a:xfrm>
            <a:off x="941760" y="5038200"/>
            <a:ext cx="2230920" cy="292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C9D9C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24"/>
          <p:cNvSpPr/>
          <p:nvPr/>
        </p:nvSpPr>
        <p:spPr>
          <a:xfrm>
            <a:off x="996840" y="5065920"/>
            <a:ext cx="2121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Closed by Decision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25"/>
          <p:cNvSpPr/>
          <p:nvPr/>
        </p:nvSpPr>
        <p:spPr>
          <a:xfrm>
            <a:off x="2057400" y="5330880"/>
            <a:ext cx="360" cy="91440"/>
          </a:xfrm>
          <a:prstGeom prst="line">
            <a:avLst/>
          </a:prstGeom>
          <a:ln w="1152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26"/>
          <p:cNvSpPr/>
          <p:nvPr/>
        </p:nvSpPr>
        <p:spPr>
          <a:xfrm>
            <a:off x="941760" y="5431680"/>
            <a:ext cx="2230920" cy="292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C9D9C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7"/>
          <p:cNvSpPr/>
          <p:nvPr/>
        </p:nvSpPr>
        <p:spPr>
          <a:xfrm>
            <a:off x="996840" y="5459040"/>
            <a:ext cx="2121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Handover View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28"/>
          <p:cNvSpPr/>
          <p:nvPr/>
        </p:nvSpPr>
        <p:spPr>
          <a:xfrm>
            <a:off x="3721680" y="1764720"/>
            <a:ext cx="4663080" cy="4059720"/>
          </a:xfrm>
          <a:prstGeom prst="roundRect">
            <a:avLst>
              <a:gd name="adj" fmla="val 1802"/>
            </a:avLst>
          </a:prstGeom>
          <a:solidFill>
            <a:srgbClr val="F7EFE1"/>
          </a:solidFill>
          <a:ln w="12600">
            <a:solidFill>
              <a:srgbClr val="E4C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29"/>
          <p:cNvSpPr/>
          <p:nvPr/>
        </p:nvSpPr>
        <p:spPr>
          <a:xfrm>
            <a:off x="4087440" y="1974960"/>
            <a:ext cx="3931560" cy="347040"/>
          </a:xfrm>
          <a:prstGeom prst="roundRect">
            <a:avLst>
              <a:gd name="adj" fmla="val 16667"/>
            </a:avLst>
          </a:prstGeom>
          <a:solidFill>
            <a:srgbClr val="B6792A"/>
          </a:solidFill>
          <a:ln w="10080">
            <a:solidFill>
              <a:srgbClr val="B679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30"/>
          <p:cNvSpPr/>
          <p:nvPr/>
        </p:nvSpPr>
        <p:spPr>
          <a:xfrm>
            <a:off x="4142160" y="2002680"/>
            <a:ext cx="3821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B · SCOPE AMENDMENT &amp; SELECTIVE REUSE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1"/>
          <p:cNvSpPr/>
          <p:nvPr/>
        </p:nvSpPr>
        <p:spPr>
          <a:xfrm>
            <a:off x="4041720" y="24872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Discovered impact is not authorised scope.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32"/>
          <p:cNvSpPr/>
          <p:nvPr/>
        </p:nvSpPr>
        <p:spPr>
          <a:xfrm>
            <a:off x="4023360" y="2971800"/>
            <a:ext cx="1846800" cy="38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E5CDA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33"/>
          <p:cNvSpPr/>
          <p:nvPr/>
        </p:nvSpPr>
        <p:spPr>
          <a:xfrm>
            <a:off x="4078080" y="2999160"/>
            <a:ext cx="1737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HIST-B01 Scope Revision Required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34"/>
          <p:cNvSpPr/>
          <p:nvPr/>
        </p:nvSpPr>
        <p:spPr>
          <a:xfrm>
            <a:off x="4946760" y="3355560"/>
            <a:ext cx="360" cy="119160"/>
          </a:xfrm>
          <a:prstGeom prst="line">
            <a:avLst/>
          </a:prstGeom>
          <a:ln w="1008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35"/>
          <p:cNvSpPr/>
          <p:nvPr/>
        </p:nvSpPr>
        <p:spPr>
          <a:xfrm>
            <a:off x="4023360" y="3502080"/>
            <a:ext cx="1846800" cy="38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E5CDA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36"/>
          <p:cNvSpPr/>
          <p:nvPr/>
        </p:nvSpPr>
        <p:spPr>
          <a:xfrm>
            <a:off x="4078080" y="3529440"/>
            <a:ext cx="1737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CI-B02:r1 added explicitly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37"/>
          <p:cNvSpPr/>
          <p:nvPr/>
        </p:nvSpPr>
        <p:spPr>
          <a:xfrm>
            <a:off x="4946760" y="3886200"/>
            <a:ext cx="360" cy="118800"/>
          </a:xfrm>
          <a:prstGeom prst="line">
            <a:avLst/>
          </a:prstGeom>
          <a:ln w="1008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38"/>
          <p:cNvSpPr/>
          <p:nvPr/>
        </p:nvSpPr>
        <p:spPr>
          <a:xfrm>
            <a:off x="4023360" y="4032360"/>
            <a:ext cx="1846800" cy="38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E5CDA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39"/>
          <p:cNvSpPr/>
          <p:nvPr/>
        </p:nvSpPr>
        <p:spPr>
          <a:xfrm>
            <a:off x="4078080" y="4060080"/>
            <a:ext cx="1737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BL-B01 reused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40"/>
          <p:cNvSpPr/>
          <p:nvPr/>
        </p:nvSpPr>
        <p:spPr>
          <a:xfrm>
            <a:off x="4946760" y="4416480"/>
            <a:ext cx="360" cy="118800"/>
          </a:xfrm>
          <a:prstGeom prst="line">
            <a:avLst/>
          </a:prstGeom>
          <a:ln w="1008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41"/>
          <p:cNvSpPr/>
          <p:nvPr/>
        </p:nvSpPr>
        <p:spPr>
          <a:xfrm>
            <a:off x="4023360" y="4563000"/>
            <a:ext cx="1846800" cy="38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E5CDA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42"/>
          <p:cNvSpPr/>
          <p:nvPr/>
        </p:nvSpPr>
        <p:spPr>
          <a:xfrm>
            <a:off x="4078080" y="4590360"/>
            <a:ext cx="1737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OV-B02 + IAX-B02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43"/>
          <p:cNvSpPr/>
          <p:nvPr/>
        </p:nvSpPr>
        <p:spPr>
          <a:xfrm flipV="1">
            <a:off x="5961600" y="3858120"/>
            <a:ext cx="311040" cy="360"/>
          </a:xfrm>
          <a:prstGeom prst="line">
            <a:avLst/>
          </a:prstGeom>
          <a:ln w="16560">
            <a:solidFill>
              <a:srgbClr val="B6792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44"/>
          <p:cNvSpPr/>
          <p:nvPr/>
        </p:nvSpPr>
        <p:spPr>
          <a:xfrm>
            <a:off x="6272640" y="2944440"/>
            <a:ext cx="1810080" cy="1801080"/>
          </a:xfrm>
          <a:prstGeom prst="roundRect">
            <a:avLst>
              <a:gd name="adj" fmla="val 4061"/>
            </a:avLst>
          </a:prstGeom>
          <a:solidFill>
            <a:srgbClr val="FFFFFF"/>
          </a:solidFill>
          <a:ln w="12600">
            <a:solidFill>
              <a:srgbClr val="E5CDA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45"/>
          <p:cNvSpPr/>
          <p:nvPr/>
        </p:nvSpPr>
        <p:spPr>
          <a:xfrm>
            <a:off x="6437520" y="3090600"/>
            <a:ext cx="14810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Reuse classification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46"/>
          <p:cNvSpPr/>
          <p:nvPr/>
        </p:nvSpPr>
        <p:spPr>
          <a:xfrm>
            <a:off x="6428160" y="3493080"/>
            <a:ext cx="149940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ASM-B01  Invalidated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ASM-B02  Retained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ASM-B03  Revalidation Required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ASM-B04  Retained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47"/>
          <p:cNvSpPr/>
          <p:nvPr/>
        </p:nvSpPr>
        <p:spPr>
          <a:xfrm>
            <a:off x="4041720" y="5065920"/>
            <a:ext cx="4004640" cy="475200"/>
          </a:xfrm>
          <a:prstGeom prst="roundRect">
            <a:avLst>
              <a:gd name="adj" fmla="val 15385"/>
            </a:avLst>
          </a:prstGeom>
          <a:solidFill>
            <a:srgbClr val="F6E9E9"/>
          </a:solidFill>
          <a:ln w="12600">
            <a:solidFill>
              <a:srgbClr val="E2BA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48"/>
          <p:cNvSpPr/>
          <p:nvPr/>
        </p:nvSpPr>
        <p:spPr>
          <a:xfrm>
            <a:off x="4178880" y="5175360"/>
            <a:ext cx="37303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A95050"/>
                </a:solidFill>
                <a:effectLst/>
                <a:uFillTx/>
                <a:latin typeface="Lato"/>
                <a:ea typeface="Lato"/>
              </a:rPr>
              <a:t>AO-B21 + AO-B22 open  -&gt;  Gate B Incomplete  -&gt;  no Decision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49"/>
          <p:cNvSpPr/>
          <p:nvPr/>
        </p:nvSpPr>
        <p:spPr>
          <a:xfrm>
            <a:off x="8577000" y="1764720"/>
            <a:ext cx="3035520" cy="4059720"/>
          </a:xfrm>
          <a:prstGeom prst="roundRect">
            <a:avLst>
              <a:gd name="adj" fmla="val 2410"/>
            </a:avLst>
          </a:prstGeom>
          <a:solidFill>
            <a:srgbClr val="EAF1F5"/>
          </a:solidFill>
          <a:ln w="12600">
            <a:solidFill>
              <a:srgbClr val="C7D8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50"/>
          <p:cNvSpPr/>
          <p:nvPr/>
        </p:nvSpPr>
        <p:spPr>
          <a:xfrm>
            <a:off x="8897040" y="1974960"/>
            <a:ext cx="2395440" cy="347040"/>
          </a:xfrm>
          <a:prstGeom prst="roundRect">
            <a:avLst>
              <a:gd name="adj" fmla="val 16667"/>
            </a:avLst>
          </a:prstGeom>
          <a:solidFill>
            <a:srgbClr val="3B6F8F"/>
          </a:solidFill>
          <a:ln w="10080">
            <a:solidFill>
              <a:srgbClr val="3B6F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51"/>
          <p:cNvSpPr/>
          <p:nvPr/>
        </p:nvSpPr>
        <p:spPr>
          <a:xfrm>
            <a:off x="8952120" y="200268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C · AUTHORITY ESCALATION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52"/>
          <p:cNvSpPr/>
          <p:nvPr/>
        </p:nvSpPr>
        <p:spPr>
          <a:xfrm>
            <a:off x="8860680" y="2496240"/>
            <a:ext cx="24685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Complete package does not imply authority to decide.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53"/>
          <p:cNvSpPr/>
          <p:nvPr/>
        </p:nvSpPr>
        <p:spPr>
          <a:xfrm>
            <a:off x="8979480" y="3191400"/>
            <a:ext cx="223092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C9D8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54"/>
          <p:cNvSpPr/>
          <p:nvPr/>
        </p:nvSpPr>
        <p:spPr>
          <a:xfrm>
            <a:off x="9034200" y="3218760"/>
            <a:ext cx="2121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Gate B Complete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55"/>
          <p:cNvSpPr/>
          <p:nvPr/>
        </p:nvSpPr>
        <p:spPr>
          <a:xfrm>
            <a:off x="10094760" y="3520440"/>
            <a:ext cx="360" cy="100440"/>
          </a:xfrm>
          <a:prstGeom prst="line">
            <a:avLst/>
          </a:prstGeom>
          <a:ln w="1008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56"/>
          <p:cNvSpPr/>
          <p:nvPr/>
        </p:nvSpPr>
        <p:spPr>
          <a:xfrm>
            <a:off x="8979480" y="3639240"/>
            <a:ext cx="223092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C9D8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57"/>
          <p:cNvSpPr/>
          <p:nvPr/>
        </p:nvSpPr>
        <p:spPr>
          <a:xfrm>
            <a:off x="9034200" y="3666600"/>
            <a:ext cx="2121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Eligibility Permitted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58"/>
          <p:cNvSpPr/>
          <p:nvPr/>
        </p:nvSpPr>
        <p:spPr>
          <a:xfrm>
            <a:off x="10094760" y="3968280"/>
            <a:ext cx="360" cy="100800"/>
          </a:xfrm>
          <a:prstGeom prst="line">
            <a:avLst/>
          </a:prstGeom>
          <a:ln w="1008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59"/>
          <p:cNvSpPr/>
          <p:nvPr/>
        </p:nvSpPr>
        <p:spPr>
          <a:xfrm>
            <a:off x="8979480" y="4087440"/>
            <a:ext cx="223092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C9D8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60"/>
          <p:cNvSpPr/>
          <p:nvPr/>
        </p:nvSpPr>
        <p:spPr>
          <a:xfrm>
            <a:off x="9034200" y="4114800"/>
            <a:ext cx="2121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Elevated &gt; Standard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61"/>
          <p:cNvSpPr/>
          <p:nvPr/>
        </p:nvSpPr>
        <p:spPr>
          <a:xfrm>
            <a:off x="10094760" y="4416480"/>
            <a:ext cx="360" cy="100440"/>
          </a:xfrm>
          <a:prstGeom prst="line">
            <a:avLst/>
          </a:prstGeom>
          <a:ln w="1008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62"/>
          <p:cNvSpPr/>
          <p:nvPr/>
        </p:nvSpPr>
        <p:spPr>
          <a:xfrm>
            <a:off x="8979480" y="4535280"/>
            <a:ext cx="2230920" cy="328680"/>
          </a:xfrm>
          <a:prstGeom prst="roundRect">
            <a:avLst>
              <a:gd name="adj" fmla="val 16667"/>
            </a:avLst>
          </a:prstGeom>
          <a:solidFill>
            <a:srgbClr val="3B6F8F"/>
          </a:solidFill>
          <a:ln w="10080">
            <a:solidFill>
              <a:srgbClr val="3B6F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63"/>
          <p:cNvSpPr/>
          <p:nvPr/>
        </p:nvSpPr>
        <p:spPr>
          <a:xfrm>
            <a:off x="9034200" y="4563000"/>
            <a:ext cx="2121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HIST-C01 Escalated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64"/>
          <p:cNvSpPr/>
          <p:nvPr/>
        </p:nvSpPr>
        <p:spPr>
          <a:xfrm>
            <a:off x="10094760" y="4864320"/>
            <a:ext cx="360" cy="100800"/>
          </a:xfrm>
          <a:prstGeom prst="line">
            <a:avLst/>
          </a:prstGeom>
          <a:ln w="1008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65"/>
          <p:cNvSpPr/>
          <p:nvPr/>
        </p:nvSpPr>
        <p:spPr>
          <a:xfrm>
            <a:off x="8979480" y="4983480"/>
            <a:ext cx="223092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C9D8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66"/>
          <p:cNvSpPr/>
          <p:nvPr/>
        </p:nvSpPr>
        <p:spPr>
          <a:xfrm>
            <a:off x="9034200" y="5010840"/>
            <a:ext cx="2121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No Decision Record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67"/>
          <p:cNvSpPr/>
          <p:nvPr/>
        </p:nvSpPr>
        <p:spPr>
          <a:xfrm>
            <a:off x="10094760" y="5312520"/>
            <a:ext cx="360" cy="100440"/>
          </a:xfrm>
          <a:prstGeom prst="line">
            <a:avLst/>
          </a:prstGeom>
          <a:ln w="1008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68"/>
          <p:cNvSpPr/>
          <p:nvPr/>
        </p:nvSpPr>
        <p:spPr>
          <a:xfrm>
            <a:off x="8979480" y="5431680"/>
            <a:ext cx="2230920" cy="32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080">
            <a:solidFill>
              <a:srgbClr val="C9D8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69"/>
          <p:cNvSpPr/>
          <p:nvPr/>
        </p:nvSpPr>
        <p:spPr>
          <a:xfrm>
            <a:off x="9034200" y="5459040"/>
            <a:ext cx="2121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Case remains Decision Ready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70"/>
          <p:cNvSpPr/>
          <p:nvPr/>
        </p:nvSpPr>
        <p:spPr>
          <a:xfrm>
            <a:off x="713160" y="5998320"/>
            <a:ext cx="3346200" cy="328680"/>
          </a:xfrm>
          <a:prstGeom prst="roundRect">
            <a:avLst>
              <a:gd name="adj" fmla="val 16667"/>
            </a:avLst>
          </a:prstGeom>
          <a:solidFill>
            <a:srgbClr val="2F4A5E"/>
          </a:solidFill>
          <a:ln w="10080">
            <a:solidFill>
              <a:srgbClr val="2F4A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71"/>
          <p:cNvSpPr/>
          <p:nvPr/>
        </p:nvSpPr>
        <p:spPr>
          <a:xfrm>
            <a:off x="768240" y="6026040"/>
            <a:ext cx="3236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discovered impact != authorised scope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72"/>
          <p:cNvSpPr/>
          <p:nvPr/>
        </p:nvSpPr>
        <p:spPr>
          <a:xfrm>
            <a:off x="4425840" y="5998320"/>
            <a:ext cx="3346200" cy="328680"/>
          </a:xfrm>
          <a:prstGeom prst="roundRect">
            <a:avLst>
              <a:gd name="adj" fmla="val 16667"/>
            </a:avLst>
          </a:prstGeom>
          <a:solidFill>
            <a:srgbClr val="1F7A7A"/>
          </a:solidFill>
          <a:ln w="10080">
            <a:solidFill>
              <a:srgbClr val="1F7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73"/>
          <p:cNvSpPr/>
          <p:nvPr/>
        </p:nvSpPr>
        <p:spPr>
          <a:xfrm>
            <a:off x="4480560" y="6026040"/>
            <a:ext cx="3236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proposal revision != baseline revision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74"/>
          <p:cNvSpPr/>
          <p:nvPr/>
        </p:nvSpPr>
        <p:spPr>
          <a:xfrm>
            <a:off x="8129160" y="5998320"/>
            <a:ext cx="3346200" cy="328680"/>
          </a:xfrm>
          <a:prstGeom prst="roundRect">
            <a:avLst>
              <a:gd name="adj" fmla="val 16667"/>
            </a:avLst>
          </a:prstGeom>
          <a:solidFill>
            <a:srgbClr val="3B6F8F"/>
          </a:solidFill>
          <a:ln w="10080">
            <a:solidFill>
              <a:srgbClr val="3B6F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75"/>
          <p:cNvSpPr/>
          <p:nvPr/>
        </p:nvSpPr>
        <p:spPr>
          <a:xfrm>
            <a:off x="8183880" y="6026040"/>
            <a:ext cx="3236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package completeness != authority to decide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1"/>
          <p:cNvSpPr>
            <a:spLocks noGrp="1"/>
          </p:cNvSpPr>
          <p:nvPr>
            <p:ph type="sldNum" idx="12"/>
          </p:nvPr>
        </p:nvSpPr>
        <p:spPr>
          <a:xfrm>
            <a:off x="11201400" y="6501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E51E6E0-6E47-470D-ACFC-1A4C602E4E77}" type="slidenum">
              <a: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8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ext 0"/>
          <p:cNvSpPr/>
          <p:nvPr/>
        </p:nvSpPr>
        <p:spPr>
          <a:xfrm>
            <a:off x="530280" y="25596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139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DELIVERY ASSURANCE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"/>
          <p:cNvSpPr/>
          <p:nvPr/>
        </p:nvSpPr>
        <p:spPr>
          <a:xfrm>
            <a:off x="530280" y="48456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Controlled delivery and verification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2"/>
          <p:cNvSpPr/>
          <p:nvPr/>
        </p:nvSpPr>
        <p:spPr>
          <a:xfrm>
            <a:off x="530280" y="1042200"/>
            <a:ext cx="11109960" cy="360"/>
          </a:xfrm>
          <a:prstGeom prst="line">
            <a:avLst/>
          </a:prstGeom>
          <a:ln w="12600">
            <a:solidFill>
              <a:srgbClr val="C9D3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3"/>
          <p:cNvSpPr/>
          <p:nvPr/>
        </p:nvSpPr>
        <p:spPr>
          <a:xfrm>
            <a:off x="557985" y="1170360"/>
            <a:ext cx="11195325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The delivery chain is bounded, incremental and auditable: frozen authority -&gt; work packages -&gt; gates -&gt; independent comparison -&gt; evidence.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4"/>
          <p:cNvSpPr/>
          <p:nvPr/>
        </p:nvSpPr>
        <p:spPr>
          <a:xfrm>
            <a:off x="603360" y="1783080"/>
            <a:ext cx="1352880" cy="840960"/>
          </a:xfrm>
          <a:prstGeom prst="roundRect">
            <a:avLst>
              <a:gd name="adj" fmla="val 8696"/>
            </a:avLst>
          </a:prstGeom>
          <a:solidFill>
            <a:srgbClr val="EAF1F5"/>
          </a:solidFill>
          <a:ln w="12600">
            <a:solidFill>
              <a:srgbClr val="C9D8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5"/>
          <p:cNvSpPr/>
          <p:nvPr/>
        </p:nvSpPr>
        <p:spPr>
          <a:xfrm>
            <a:off x="694800" y="1938600"/>
            <a:ext cx="1170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Frozen authority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6"/>
          <p:cNvSpPr/>
          <p:nvPr/>
        </p:nvSpPr>
        <p:spPr>
          <a:xfrm>
            <a:off x="694800" y="2249280"/>
            <a:ext cx="11700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6 artefacts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7"/>
          <p:cNvSpPr/>
          <p:nvPr/>
        </p:nvSpPr>
        <p:spPr>
          <a:xfrm>
            <a:off x="1965960" y="2194560"/>
            <a:ext cx="173520" cy="360"/>
          </a:xfrm>
          <a:prstGeom prst="line">
            <a:avLst/>
          </a:prstGeom>
          <a:ln w="1260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8"/>
          <p:cNvSpPr/>
          <p:nvPr/>
        </p:nvSpPr>
        <p:spPr>
          <a:xfrm>
            <a:off x="2212920" y="1783080"/>
            <a:ext cx="1352880" cy="840960"/>
          </a:xfrm>
          <a:prstGeom prst="roundRect">
            <a:avLst>
              <a:gd name="adj" fmla="val 8696"/>
            </a:avLst>
          </a:prstGeom>
          <a:solidFill>
            <a:srgbClr val="EAF1F5"/>
          </a:solidFill>
          <a:ln w="12600">
            <a:solidFill>
              <a:srgbClr val="C9D8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9"/>
          <p:cNvSpPr/>
          <p:nvPr/>
        </p:nvSpPr>
        <p:spPr>
          <a:xfrm>
            <a:off x="2304360" y="1938600"/>
            <a:ext cx="1170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INC-00-INC-14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0"/>
          <p:cNvSpPr/>
          <p:nvPr/>
        </p:nvSpPr>
        <p:spPr>
          <a:xfrm>
            <a:off x="2304360" y="2249280"/>
            <a:ext cx="11700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work packages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11"/>
          <p:cNvSpPr/>
          <p:nvPr/>
        </p:nvSpPr>
        <p:spPr>
          <a:xfrm>
            <a:off x="3575160" y="2194560"/>
            <a:ext cx="173880" cy="360"/>
          </a:xfrm>
          <a:prstGeom prst="line">
            <a:avLst/>
          </a:prstGeom>
          <a:ln w="1260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12"/>
          <p:cNvSpPr/>
          <p:nvPr/>
        </p:nvSpPr>
        <p:spPr>
          <a:xfrm>
            <a:off x="3822120" y="1783080"/>
            <a:ext cx="1352880" cy="840960"/>
          </a:xfrm>
          <a:prstGeom prst="roundRect">
            <a:avLst>
              <a:gd name="adj" fmla="val 8696"/>
            </a:avLst>
          </a:prstGeom>
          <a:solidFill>
            <a:srgbClr val="E5F1F0"/>
          </a:solidFill>
          <a:ln w="12600">
            <a:solidFill>
              <a:srgbClr val="BED9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3"/>
          <p:cNvSpPr/>
          <p:nvPr/>
        </p:nvSpPr>
        <p:spPr>
          <a:xfrm>
            <a:off x="3913560" y="1938600"/>
            <a:ext cx="1170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G00-G14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4"/>
          <p:cNvSpPr/>
          <p:nvPr/>
        </p:nvSpPr>
        <p:spPr>
          <a:xfrm>
            <a:off x="3913560" y="2249280"/>
            <a:ext cx="11700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acceptance gates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15"/>
          <p:cNvSpPr/>
          <p:nvPr/>
        </p:nvSpPr>
        <p:spPr>
          <a:xfrm>
            <a:off x="5184360" y="2194560"/>
            <a:ext cx="173880" cy="360"/>
          </a:xfrm>
          <a:prstGeom prst="line">
            <a:avLst/>
          </a:prstGeom>
          <a:ln w="1260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16"/>
          <p:cNvSpPr/>
          <p:nvPr/>
        </p:nvSpPr>
        <p:spPr>
          <a:xfrm>
            <a:off x="5431680" y="1783080"/>
            <a:ext cx="1352880" cy="840960"/>
          </a:xfrm>
          <a:prstGeom prst="roundRect">
            <a:avLst>
              <a:gd name="adj" fmla="val 8696"/>
            </a:avLst>
          </a:prstGeom>
          <a:solidFill>
            <a:srgbClr val="E5F1F0"/>
          </a:solidFill>
          <a:ln w="12600">
            <a:solidFill>
              <a:srgbClr val="BED9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17"/>
          <p:cNvSpPr/>
          <p:nvPr/>
        </p:nvSpPr>
        <p:spPr>
          <a:xfrm>
            <a:off x="5523120" y="1938600"/>
            <a:ext cx="1170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IT-01-IT-16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18"/>
          <p:cNvSpPr/>
          <p:nvPr/>
        </p:nvSpPr>
        <p:spPr>
          <a:xfrm>
            <a:off x="5523120" y="2249280"/>
            <a:ext cx="11700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integrity controls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19"/>
          <p:cNvSpPr/>
          <p:nvPr/>
        </p:nvSpPr>
        <p:spPr>
          <a:xfrm>
            <a:off x="6793920" y="2194560"/>
            <a:ext cx="173520" cy="360"/>
          </a:xfrm>
          <a:prstGeom prst="line">
            <a:avLst/>
          </a:prstGeom>
          <a:ln w="1260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20"/>
          <p:cNvSpPr/>
          <p:nvPr/>
        </p:nvSpPr>
        <p:spPr>
          <a:xfrm>
            <a:off x="7040880" y="1783080"/>
            <a:ext cx="1352880" cy="840960"/>
          </a:xfrm>
          <a:prstGeom prst="roundRect">
            <a:avLst>
              <a:gd name="adj" fmla="val 8696"/>
            </a:avLst>
          </a:prstGeom>
          <a:solidFill>
            <a:srgbClr val="F5F7F9"/>
          </a:solidFill>
          <a:ln w="12600">
            <a:solidFill>
              <a:srgbClr val="CB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21"/>
          <p:cNvSpPr/>
          <p:nvPr/>
        </p:nvSpPr>
        <p:spPr>
          <a:xfrm>
            <a:off x="7132320" y="1938600"/>
            <a:ext cx="1170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Scenario A-C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22"/>
          <p:cNvSpPr/>
          <p:nvPr/>
        </p:nvSpPr>
        <p:spPr>
          <a:xfrm>
            <a:off x="7132320" y="2249280"/>
            <a:ext cx="11700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actual state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23"/>
          <p:cNvSpPr/>
          <p:nvPr/>
        </p:nvSpPr>
        <p:spPr>
          <a:xfrm>
            <a:off x="8403120" y="2194560"/>
            <a:ext cx="173880" cy="360"/>
          </a:xfrm>
          <a:prstGeom prst="line">
            <a:avLst/>
          </a:prstGeom>
          <a:ln w="1260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24"/>
          <p:cNvSpPr/>
          <p:nvPr/>
        </p:nvSpPr>
        <p:spPr>
          <a:xfrm>
            <a:off x="8650080" y="1783080"/>
            <a:ext cx="1352880" cy="840960"/>
          </a:xfrm>
          <a:prstGeom prst="roundRect">
            <a:avLst>
              <a:gd name="adj" fmla="val 8696"/>
            </a:avLst>
          </a:prstGeom>
          <a:solidFill>
            <a:srgbClr val="F5F7F9"/>
          </a:solidFill>
          <a:ln w="12600">
            <a:solidFill>
              <a:srgbClr val="CB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25"/>
          <p:cNvSpPr/>
          <p:nvPr/>
        </p:nvSpPr>
        <p:spPr>
          <a:xfrm>
            <a:off x="8741520" y="1938600"/>
            <a:ext cx="1170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Independent oracle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26"/>
          <p:cNvSpPr/>
          <p:nvPr/>
        </p:nvSpPr>
        <p:spPr>
          <a:xfrm>
            <a:off x="8741520" y="2249280"/>
            <a:ext cx="11700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strict comparison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27"/>
          <p:cNvSpPr/>
          <p:nvPr/>
        </p:nvSpPr>
        <p:spPr>
          <a:xfrm>
            <a:off x="10012680" y="2194560"/>
            <a:ext cx="173520" cy="360"/>
          </a:xfrm>
          <a:prstGeom prst="line">
            <a:avLst/>
          </a:prstGeom>
          <a:ln w="12600">
            <a:solidFill>
              <a:srgbClr val="60717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28"/>
          <p:cNvSpPr/>
          <p:nvPr/>
        </p:nvSpPr>
        <p:spPr>
          <a:xfrm>
            <a:off x="10259640" y="1783080"/>
            <a:ext cx="1352880" cy="840960"/>
          </a:xfrm>
          <a:prstGeom prst="roundRect">
            <a:avLst>
              <a:gd name="adj" fmla="val 8696"/>
            </a:avLst>
          </a:prstGeom>
          <a:solidFill>
            <a:srgbClr val="E8F1EB"/>
          </a:solidFill>
          <a:ln w="12600">
            <a:solidFill>
              <a:srgbClr val="CB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29"/>
          <p:cNvSpPr/>
          <p:nvPr/>
        </p:nvSpPr>
        <p:spPr>
          <a:xfrm>
            <a:off x="10351080" y="1938600"/>
            <a:ext cx="1170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Evidence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30"/>
          <p:cNvSpPr/>
          <p:nvPr/>
        </p:nvSpPr>
        <p:spPr>
          <a:xfrm>
            <a:off x="10351080" y="2249280"/>
            <a:ext cx="11700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deterministic output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31"/>
          <p:cNvSpPr/>
          <p:nvPr/>
        </p:nvSpPr>
        <p:spPr>
          <a:xfrm>
            <a:off x="603360" y="2907720"/>
            <a:ext cx="489168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600">
            <a:solidFill>
              <a:srgbClr val="C9D3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32"/>
          <p:cNvSpPr/>
          <p:nvPr/>
        </p:nvSpPr>
        <p:spPr>
          <a:xfrm>
            <a:off x="868680" y="3108960"/>
            <a:ext cx="436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Three fixture roles remain separate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33"/>
          <p:cNvSpPr/>
          <p:nvPr/>
        </p:nvSpPr>
        <p:spPr>
          <a:xfrm>
            <a:off x="932760" y="3675960"/>
            <a:ext cx="1096920" cy="402120"/>
          </a:xfrm>
          <a:prstGeom prst="roundRect">
            <a:avLst>
              <a:gd name="adj" fmla="val 16667"/>
            </a:avLst>
          </a:prstGeom>
          <a:solidFill>
            <a:srgbClr val="EAF1F5"/>
          </a:solidFill>
          <a:ln w="10080">
            <a:solidFill>
              <a:srgbClr val="C7D8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34"/>
          <p:cNvSpPr/>
          <p:nvPr/>
        </p:nvSpPr>
        <p:spPr>
          <a:xfrm>
            <a:off x="987480" y="3703320"/>
            <a:ext cx="987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3B6F8F"/>
                </a:solidFill>
                <a:effectLst/>
                <a:uFillTx/>
                <a:latin typeface="Lato"/>
                <a:ea typeface="Lato"/>
              </a:rPr>
              <a:t>Scenario input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35"/>
          <p:cNvSpPr/>
          <p:nvPr/>
        </p:nvSpPr>
        <p:spPr>
          <a:xfrm>
            <a:off x="2103120" y="3712320"/>
            <a:ext cx="310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A95050"/>
                </a:solidFill>
                <a:effectLst/>
                <a:uFillTx/>
                <a:latin typeface="Lato"/>
                <a:ea typeface="Lato"/>
              </a:rPr>
              <a:t>!=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36"/>
          <p:cNvSpPr/>
          <p:nvPr/>
        </p:nvSpPr>
        <p:spPr>
          <a:xfrm>
            <a:off x="2468880" y="3675960"/>
            <a:ext cx="1352880" cy="402120"/>
          </a:xfrm>
          <a:prstGeom prst="roundRect">
            <a:avLst>
              <a:gd name="adj" fmla="val 16667"/>
            </a:avLst>
          </a:prstGeom>
          <a:solidFill>
            <a:srgbClr val="E5F1F0"/>
          </a:solidFill>
          <a:ln w="10080">
            <a:solidFill>
              <a:srgbClr val="BBD7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37"/>
          <p:cNvSpPr/>
          <p:nvPr/>
        </p:nvSpPr>
        <p:spPr>
          <a:xfrm>
            <a:off x="2523600" y="3703320"/>
            <a:ext cx="1243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Impact-result fixture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38"/>
          <p:cNvSpPr/>
          <p:nvPr/>
        </p:nvSpPr>
        <p:spPr>
          <a:xfrm>
            <a:off x="3895200" y="3712320"/>
            <a:ext cx="310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A95050"/>
                </a:solidFill>
                <a:effectLst/>
                <a:uFillTx/>
                <a:latin typeface="Lato"/>
                <a:ea typeface="Lato"/>
              </a:rPr>
              <a:t>!=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39"/>
          <p:cNvSpPr/>
          <p:nvPr/>
        </p:nvSpPr>
        <p:spPr>
          <a:xfrm>
            <a:off x="4279320" y="3675960"/>
            <a:ext cx="1078560" cy="402120"/>
          </a:xfrm>
          <a:prstGeom prst="roundRect">
            <a:avLst>
              <a:gd name="adj" fmla="val 16667"/>
            </a:avLst>
          </a:prstGeom>
          <a:solidFill>
            <a:srgbClr val="E8F1EB"/>
          </a:solidFill>
          <a:ln w="10080">
            <a:solidFill>
              <a:srgbClr val="C5DCC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40"/>
          <p:cNvSpPr/>
          <p:nvPr/>
        </p:nvSpPr>
        <p:spPr>
          <a:xfrm>
            <a:off x="4334400" y="3703320"/>
            <a:ext cx="9687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3F7D5A"/>
                </a:solidFill>
                <a:effectLst/>
                <a:uFillTx/>
                <a:latin typeface="Lato"/>
                <a:ea typeface="Lato"/>
              </a:rPr>
              <a:t>Expected oracle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41"/>
          <p:cNvSpPr/>
          <p:nvPr/>
        </p:nvSpPr>
        <p:spPr>
          <a:xfrm>
            <a:off x="896040" y="4370760"/>
            <a:ext cx="43614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The expected oracle is never loaded as application state. The comparator evaluates the complete actual persisted and derived result.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42"/>
          <p:cNvSpPr/>
          <p:nvPr/>
        </p:nvSpPr>
        <p:spPr>
          <a:xfrm>
            <a:off x="5715000" y="2907720"/>
            <a:ext cx="5879160" cy="2084400"/>
          </a:xfrm>
          <a:prstGeom prst="roundRect">
            <a:avLst>
              <a:gd name="adj" fmla="val 3509"/>
            </a:avLst>
          </a:prstGeom>
          <a:solidFill>
            <a:srgbClr val="F5F7F9"/>
          </a:solidFill>
          <a:ln w="12600">
            <a:solidFill>
              <a:srgbClr val="C9D3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43"/>
          <p:cNvSpPr/>
          <p:nvPr/>
        </p:nvSpPr>
        <p:spPr>
          <a:xfrm>
            <a:off x="5998320" y="3108960"/>
            <a:ext cx="5321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Recorded verification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44"/>
          <p:cNvSpPr/>
          <p:nvPr/>
        </p:nvSpPr>
        <p:spPr>
          <a:xfrm>
            <a:off x="5961960" y="3529440"/>
            <a:ext cx="1234080" cy="1060200"/>
          </a:xfrm>
          <a:prstGeom prst="roundRect">
            <a:avLst>
              <a:gd name="adj" fmla="val 6897"/>
            </a:avLst>
          </a:prstGeom>
          <a:solidFill>
            <a:srgbClr val="EAF1F5"/>
          </a:solidFill>
          <a:ln w="12600">
            <a:solidFill>
              <a:srgbClr val="D5E0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45"/>
          <p:cNvSpPr/>
          <p:nvPr/>
        </p:nvSpPr>
        <p:spPr>
          <a:xfrm>
            <a:off x="5961960" y="3529440"/>
            <a:ext cx="72720" cy="1060200"/>
          </a:xfrm>
          <a:prstGeom prst="rect">
            <a:avLst/>
          </a:prstGeom>
          <a:solidFill>
            <a:srgbClr val="3B6F8F"/>
          </a:solidFill>
          <a:ln w="12600">
            <a:solidFill>
              <a:srgbClr val="3B6F8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46"/>
          <p:cNvSpPr/>
          <p:nvPr/>
        </p:nvSpPr>
        <p:spPr>
          <a:xfrm>
            <a:off x="6126480" y="3620880"/>
            <a:ext cx="959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15/15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47"/>
          <p:cNvSpPr/>
          <p:nvPr/>
        </p:nvSpPr>
        <p:spPr>
          <a:xfrm>
            <a:off x="6126480" y="3968640"/>
            <a:ext cx="95976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G00-G14 acceptance gates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48"/>
          <p:cNvSpPr/>
          <p:nvPr/>
        </p:nvSpPr>
        <p:spPr>
          <a:xfrm>
            <a:off x="7296840" y="3529440"/>
            <a:ext cx="1234080" cy="1060200"/>
          </a:xfrm>
          <a:prstGeom prst="roundRect">
            <a:avLst>
              <a:gd name="adj" fmla="val 6897"/>
            </a:avLst>
          </a:prstGeom>
          <a:solidFill>
            <a:srgbClr val="E5F1F0"/>
          </a:solidFill>
          <a:ln w="12600">
            <a:solidFill>
              <a:srgbClr val="D5E0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49"/>
          <p:cNvSpPr/>
          <p:nvPr/>
        </p:nvSpPr>
        <p:spPr>
          <a:xfrm>
            <a:off x="7296840" y="3529440"/>
            <a:ext cx="72720" cy="1060200"/>
          </a:xfrm>
          <a:prstGeom prst="rect">
            <a:avLst/>
          </a:prstGeom>
          <a:solidFill>
            <a:srgbClr val="1F7A7A"/>
          </a:solidFill>
          <a:ln w="12600">
            <a:solidFill>
              <a:srgbClr val="1F7A7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50"/>
          <p:cNvSpPr/>
          <p:nvPr/>
        </p:nvSpPr>
        <p:spPr>
          <a:xfrm>
            <a:off x="7461360" y="3620880"/>
            <a:ext cx="959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185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51"/>
          <p:cNvSpPr/>
          <p:nvPr/>
        </p:nvSpPr>
        <p:spPr>
          <a:xfrm>
            <a:off x="7461360" y="3968640"/>
            <a:ext cx="95976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full regression tests passed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52"/>
          <p:cNvSpPr/>
          <p:nvPr/>
        </p:nvSpPr>
        <p:spPr>
          <a:xfrm>
            <a:off x="8632080" y="3529440"/>
            <a:ext cx="1234080" cy="1060200"/>
          </a:xfrm>
          <a:prstGeom prst="roundRect">
            <a:avLst>
              <a:gd name="adj" fmla="val 6897"/>
            </a:avLst>
          </a:prstGeom>
          <a:solidFill>
            <a:srgbClr val="E8F1EB"/>
          </a:solidFill>
          <a:ln w="12600">
            <a:solidFill>
              <a:srgbClr val="D5E0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53"/>
          <p:cNvSpPr/>
          <p:nvPr/>
        </p:nvSpPr>
        <p:spPr>
          <a:xfrm>
            <a:off x="8632080" y="3529440"/>
            <a:ext cx="72720" cy="1060200"/>
          </a:xfrm>
          <a:prstGeom prst="rect">
            <a:avLst/>
          </a:prstGeom>
          <a:solidFill>
            <a:srgbClr val="3F7D5A"/>
          </a:solidFill>
          <a:ln w="12600">
            <a:solidFill>
              <a:srgbClr val="3F7D5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54"/>
          <p:cNvSpPr/>
          <p:nvPr/>
        </p:nvSpPr>
        <p:spPr>
          <a:xfrm>
            <a:off x="8796600" y="3620880"/>
            <a:ext cx="959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6/6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55"/>
          <p:cNvSpPr/>
          <p:nvPr/>
        </p:nvSpPr>
        <p:spPr>
          <a:xfrm>
            <a:off x="8796600" y="3968640"/>
            <a:ext cx="95976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final verification groups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56"/>
          <p:cNvSpPr/>
          <p:nvPr/>
        </p:nvSpPr>
        <p:spPr>
          <a:xfrm>
            <a:off x="9966960" y="3529440"/>
            <a:ext cx="1416960" cy="1060200"/>
          </a:xfrm>
          <a:prstGeom prst="roundRect">
            <a:avLst>
              <a:gd name="adj" fmla="val 6897"/>
            </a:avLst>
          </a:prstGeom>
          <a:solidFill>
            <a:srgbClr val="F7EFE1"/>
          </a:solidFill>
          <a:ln w="12600">
            <a:solidFill>
              <a:srgbClr val="D5E0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57"/>
          <p:cNvSpPr/>
          <p:nvPr/>
        </p:nvSpPr>
        <p:spPr>
          <a:xfrm>
            <a:off x="9966960" y="3529440"/>
            <a:ext cx="72720" cy="1060200"/>
          </a:xfrm>
          <a:prstGeom prst="rect">
            <a:avLst/>
          </a:prstGeom>
          <a:solidFill>
            <a:srgbClr val="B6792A"/>
          </a:solidFill>
          <a:ln w="12600">
            <a:solidFill>
              <a:srgbClr val="B6792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58"/>
          <p:cNvSpPr/>
          <p:nvPr/>
        </p:nvSpPr>
        <p:spPr>
          <a:xfrm>
            <a:off x="10131480" y="3620880"/>
            <a:ext cx="1142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6/6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59"/>
          <p:cNvSpPr/>
          <p:nvPr/>
        </p:nvSpPr>
        <p:spPr>
          <a:xfrm>
            <a:off x="10131480" y="3968640"/>
            <a:ext cx="114264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IT-16 families attempted and rejected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60"/>
          <p:cNvSpPr/>
          <p:nvPr/>
        </p:nvSpPr>
        <p:spPr>
          <a:xfrm>
            <a:off x="6016680" y="4754880"/>
            <a:ext cx="5248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3F7D5A"/>
                </a:solidFill>
                <a:effectLst/>
                <a:uFillTx/>
                <a:latin typeface="Lato"/>
                <a:ea typeface="Lato"/>
              </a:rPr>
              <a:t>Repeated verification produced byte-identical evidence.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61"/>
          <p:cNvSpPr/>
          <p:nvPr/>
        </p:nvSpPr>
        <p:spPr>
          <a:xfrm>
            <a:off x="658440" y="5266800"/>
            <a:ext cx="2331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Reproducibility and governance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62"/>
          <p:cNvSpPr/>
          <p:nvPr/>
        </p:nvSpPr>
        <p:spPr>
          <a:xfrm>
            <a:off x="3057899" y="5193720"/>
            <a:ext cx="1270800" cy="438480"/>
          </a:xfrm>
          <a:prstGeom prst="roundRect">
            <a:avLst>
              <a:gd name="adj" fmla="val 16667"/>
            </a:avLst>
          </a:prstGeom>
          <a:solidFill>
            <a:srgbClr val="EAF1F5"/>
          </a:solidFill>
          <a:ln w="10080">
            <a:solidFill>
              <a:srgbClr val="CAD9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63"/>
          <p:cNvSpPr/>
          <p:nvPr/>
        </p:nvSpPr>
        <p:spPr>
          <a:xfrm>
            <a:off x="3112979" y="5221080"/>
            <a:ext cx="116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requirements.lock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64"/>
          <p:cNvSpPr/>
          <p:nvPr/>
        </p:nvSpPr>
        <p:spPr>
          <a:xfrm>
            <a:off x="4475219" y="5193720"/>
            <a:ext cx="1270800" cy="438480"/>
          </a:xfrm>
          <a:prstGeom prst="roundRect">
            <a:avLst>
              <a:gd name="adj" fmla="val 16667"/>
            </a:avLst>
          </a:prstGeom>
          <a:solidFill>
            <a:srgbClr val="E5F1F0"/>
          </a:solidFill>
          <a:ln w="10080">
            <a:solidFill>
              <a:srgbClr val="C5DC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65"/>
          <p:cNvSpPr/>
          <p:nvPr/>
        </p:nvSpPr>
        <p:spPr>
          <a:xfrm>
            <a:off x="4530299" y="5221080"/>
            <a:ext cx="116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Alembic from empty DB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66"/>
          <p:cNvSpPr/>
          <p:nvPr/>
        </p:nvSpPr>
        <p:spPr>
          <a:xfrm>
            <a:off x="5892539" y="5193720"/>
            <a:ext cx="1270800" cy="438480"/>
          </a:xfrm>
          <a:prstGeom prst="roundRect">
            <a:avLst>
              <a:gd name="adj" fmla="val 16667"/>
            </a:avLst>
          </a:prstGeom>
          <a:solidFill>
            <a:srgbClr val="EAF1F5"/>
          </a:solidFill>
          <a:ln w="10080">
            <a:solidFill>
              <a:srgbClr val="CAD9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67"/>
          <p:cNvSpPr/>
          <p:nvPr/>
        </p:nvSpPr>
        <p:spPr>
          <a:xfrm>
            <a:off x="5947619" y="5221080"/>
            <a:ext cx="116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GitHub Actions verify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68"/>
          <p:cNvSpPr/>
          <p:nvPr/>
        </p:nvSpPr>
        <p:spPr>
          <a:xfrm>
            <a:off x="7309859" y="5193720"/>
            <a:ext cx="1270800" cy="438480"/>
          </a:xfrm>
          <a:prstGeom prst="roundRect">
            <a:avLst>
              <a:gd name="adj" fmla="val 16667"/>
            </a:avLst>
          </a:prstGeom>
          <a:solidFill>
            <a:srgbClr val="E5F1F0"/>
          </a:solidFill>
          <a:ln w="10080">
            <a:solidFill>
              <a:srgbClr val="C5DC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69"/>
          <p:cNvSpPr/>
          <p:nvPr/>
        </p:nvSpPr>
        <p:spPr>
          <a:xfrm>
            <a:off x="7364939" y="5221080"/>
            <a:ext cx="116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evidence SHA-256 manifest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70"/>
          <p:cNvSpPr/>
          <p:nvPr/>
        </p:nvSpPr>
        <p:spPr>
          <a:xfrm>
            <a:off x="8727179" y="5193720"/>
            <a:ext cx="1270800" cy="438480"/>
          </a:xfrm>
          <a:prstGeom prst="roundRect">
            <a:avLst>
              <a:gd name="adj" fmla="val 16667"/>
            </a:avLst>
          </a:prstGeom>
          <a:solidFill>
            <a:srgbClr val="EAF1F5"/>
          </a:solidFill>
          <a:ln w="10080">
            <a:solidFill>
              <a:srgbClr val="CAD9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71"/>
          <p:cNvSpPr/>
          <p:nvPr/>
        </p:nvSpPr>
        <p:spPr>
          <a:xfrm>
            <a:off x="8782259" y="5221080"/>
            <a:ext cx="116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frozen-architecture hashes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72"/>
          <p:cNvSpPr/>
          <p:nvPr/>
        </p:nvSpPr>
        <p:spPr>
          <a:xfrm>
            <a:off x="10144499" y="5193720"/>
            <a:ext cx="1270800" cy="438480"/>
          </a:xfrm>
          <a:prstGeom prst="roundRect">
            <a:avLst>
              <a:gd name="adj" fmla="val 16667"/>
            </a:avLst>
          </a:prstGeom>
          <a:solidFill>
            <a:srgbClr val="E5F1F0"/>
          </a:solidFill>
          <a:ln w="10080">
            <a:solidFill>
              <a:srgbClr val="C5DC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73"/>
          <p:cNvSpPr/>
          <p:nvPr/>
        </p:nvSpPr>
        <p:spPr>
          <a:xfrm>
            <a:off x="10199579" y="5221080"/>
            <a:ext cx="116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protected main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74"/>
          <p:cNvSpPr/>
          <p:nvPr/>
        </p:nvSpPr>
        <p:spPr>
          <a:xfrm>
            <a:off x="658440" y="5806440"/>
            <a:ext cx="10899360" cy="383760"/>
          </a:xfrm>
          <a:prstGeom prst="roundRect">
            <a:avLst>
              <a:gd name="adj" fmla="val 19048"/>
            </a:avLst>
          </a:prstGeom>
          <a:solidFill>
            <a:srgbClr val="20364A"/>
          </a:solidFill>
          <a:ln w="12600">
            <a:solidFill>
              <a:srgbClr val="20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75"/>
          <p:cNvSpPr/>
          <p:nvPr/>
        </p:nvSpPr>
        <p:spPr>
          <a:xfrm>
            <a:off x="868680" y="5888880"/>
            <a:ext cx="10478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These controls prove deterministic conformance to the bounded reference case - not enterprise or production readiness.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1"/>
          <p:cNvSpPr>
            <a:spLocks noGrp="1"/>
          </p:cNvSpPr>
          <p:nvPr>
            <p:ph type="sldNum" idx="13"/>
          </p:nvPr>
        </p:nvSpPr>
        <p:spPr>
          <a:xfrm>
            <a:off x="11201400" y="6501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F1C5B9E-6BFE-49DC-A04D-17C7D4F3DE84}" type="slidenum">
              <a: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9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Text 0"/>
          <p:cNvSpPr/>
          <p:nvPr/>
        </p:nvSpPr>
        <p:spPr>
          <a:xfrm>
            <a:off x="530280" y="255960"/>
            <a:ext cx="4205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139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CLAIM BOUNDARY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1"/>
          <p:cNvSpPr/>
          <p:nvPr/>
        </p:nvSpPr>
        <p:spPr>
          <a:xfrm>
            <a:off x="530280" y="48456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0364A"/>
                </a:solidFill>
                <a:effectLst/>
                <a:uFillTx/>
                <a:latin typeface="Lato"/>
                <a:ea typeface="Lato"/>
              </a:rPr>
              <a:t>Supported claims, explicit limitations and applicability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2"/>
          <p:cNvSpPr/>
          <p:nvPr/>
        </p:nvSpPr>
        <p:spPr>
          <a:xfrm>
            <a:off x="530280" y="1042200"/>
            <a:ext cx="11109960" cy="360"/>
          </a:xfrm>
          <a:prstGeom prst="line">
            <a:avLst/>
          </a:prstGeom>
          <a:ln w="12600">
            <a:solidFill>
              <a:srgbClr val="C9D3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3"/>
          <p:cNvSpPr/>
          <p:nvPr/>
        </p:nvSpPr>
        <p:spPr>
          <a:xfrm>
            <a:off x="594360" y="117036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The strongest package is the one that states both what was proven and what was deliberately not claimed.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4"/>
          <p:cNvSpPr/>
          <p:nvPr/>
        </p:nvSpPr>
        <p:spPr>
          <a:xfrm>
            <a:off x="658440" y="1783080"/>
            <a:ext cx="5257440" cy="3492720"/>
          </a:xfrm>
          <a:prstGeom prst="roundRect">
            <a:avLst>
              <a:gd name="adj" fmla="val 2094"/>
            </a:avLst>
          </a:prstGeom>
          <a:solidFill>
            <a:srgbClr val="E8F1EB"/>
          </a:solidFill>
          <a:ln w="12600">
            <a:solidFill>
              <a:srgbClr val="C5DCC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5"/>
          <p:cNvSpPr/>
          <p:nvPr/>
        </p:nvSpPr>
        <p:spPr>
          <a:xfrm>
            <a:off x="932760" y="1993320"/>
            <a:ext cx="1298160" cy="347040"/>
          </a:xfrm>
          <a:prstGeom prst="roundRect">
            <a:avLst>
              <a:gd name="adj" fmla="val 16667"/>
            </a:avLst>
          </a:prstGeom>
          <a:solidFill>
            <a:srgbClr val="3F7D5A"/>
          </a:solidFill>
          <a:ln w="10080">
            <a:solidFill>
              <a:srgbClr val="3F7D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6"/>
          <p:cNvSpPr/>
          <p:nvPr/>
        </p:nvSpPr>
        <p:spPr>
          <a:xfrm>
            <a:off x="987480" y="2020680"/>
            <a:ext cx="1188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SUPPORTED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7"/>
          <p:cNvSpPr/>
          <p:nvPr/>
        </p:nvSpPr>
        <p:spPr>
          <a:xfrm>
            <a:off x="843109" y="2541960"/>
            <a:ext cx="4974985" cy="242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152280" indent="-152280" defTabSz="914400">
              <a:lnSpc>
                <a:spcPct val="100000"/>
              </a:lnSpc>
              <a:buClr>
                <a:srgbClr val="2F4A5E"/>
              </a:buClr>
              <a:buFont typeface="Symbol" charset="2"/>
              <a:buChar char=""/>
            </a:pPr>
            <a:r>
              <a:rPr lang="en-US" sz="1140" b="0" u="none" strike="noStrike" dirty="0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Deterministic execution of frozen Scenarios A-C.</a:t>
            </a:r>
            <a:endParaRPr lang="en-US" sz="11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2F4A5E"/>
              </a:buClr>
              <a:buFont typeface="Symbol" charset="2"/>
              <a:buChar char=""/>
            </a:pPr>
            <a:r>
              <a:rPr lang="en-US" sz="1140" b="0" u="none" strike="noStrike" dirty="0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Explicit business, information and decision semantics.</a:t>
            </a:r>
            <a:endParaRPr lang="en-US" sz="11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2F4A5E"/>
              </a:buClr>
              <a:buFont typeface="Symbol" charset="2"/>
              <a:buChar char=""/>
            </a:pPr>
            <a:r>
              <a:rPr lang="en-US" sz="1140" b="0" u="none" strike="noStrike" dirty="0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Case-local lineage and immutable historical reconstruction.</a:t>
            </a:r>
            <a:endParaRPr lang="en-US" sz="11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2F4A5E"/>
              </a:buClr>
              <a:buFont typeface="Symbol" charset="2"/>
              <a:buChar char=""/>
            </a:pPr>
            <a:r>
              <a:rPr lang="en-US" sz="1140" b="0" u="none" strike="noStrike" dirty="0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Separation of Gate B, </a:t>
            </a:r>
            <a:r>
              <a:rPr lang="en-US" sz="1140" b="0" u="none" strike="noStrike" dirty="0" err="1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Authorisation</a:t>
            </a:r>
            <a:r>
              <a:rPr lang="en-US" sz="1140" b="0" u="none" strike="noStrike" dirty="0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 Eligibility, authority sufficiency and Decision.</a:t>
            </a:r>
            <a:endParaRPr lang="en-US" sz="11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2F4A5E"/>
              </a:buClr>
              <a:buFont typeface="Symbol" charset="2"/>
              <a:buChar char=""/>
            </a:pPr>
            <a:r>
              <a:rPr lang="en-US" sz="1140" b="0" u="none" strike="noStrike" dirty="0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Explicit terminal authority action before Decision persistence.</a:t>
            </a:r>
            <a:endParaRPr lang="en-US" sz="11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2F4A5E"/>
              </a:buClr>
              <a:buFont typeface="Symbol" charset="2"/>
              <a:buChar char=""/>
            </a:pPr>
            <a:r>
              <a:rPr lang="en-US" sz="1140" b="0" u="none" strike="noStrike" dirty="0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Independent oracle comparison, integrity controls and committed evidence.</a:t>
            </a:r>
            <a:endParaRPr lang="en-US" sz="11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2F4A5E"/>
              </a:buClr>
              <a:buFont typeface="Symbol" charset="2"/>
              <a:buChar char=""/>
            </a:pPr>
            <a:r>
              <a:rPr lang="en-US" sz="1140" b="0" u="none" strike="noStrike" dirty="0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Controlled delivery through bounded increments, acceptance gates and reproducibility governance.</a:t>
            </a:r>
            <a:endParaRPr lang="en-US" sz="11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8"/>
          <p:cNvSpPr/>
          <p:nvPr/>
        </p:nvSpPr>
        <p:spPr>
          <a:xfrm>
            <a:off x="6236280" y="1783080"/>
            <a:ext cx="5303160" cy="3492720"/>
          </a:xfrm>
          <a:prstGeom prst="roundRect">
            <a:avLst>
              <a:gd name="adj" fmla="val 2094"/>
            </a:avLst>
          </a:prstGeom>
          <a:solidFill>
            <a:srgbClr val="F7EFE1"/>
          </a:solidFill>
          <a:ln w="12600">
            <a:solidFill>
              <a:srgbClr val="E4C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9"/>
          <p:cNvSpPr/>
          <p:nvPr/>
        </p:nvSpPr>
        <p:spPr>
          <a:xfrm>
            <a:off x="6510600" y="1993320"/>
            <a:ext cx="1481040" cy="347040"/>
          </a:xfrm>
          <a:prstGeom prst="roundRect">
            <a:avLst>
              <a:gd name="adj" fmla="val 16667"/>
            </a:avLst>
          </a:prstGeom>
          <a:solidFill>
            <a:srgbClr val="B6792A"/>
          </a:solidFill>
          <a:ln w="10080">
            <a:solidFill>
              <a:srgbClr val="B679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10"/>
          <p:cNvSpPr/>
          <p:nvPr/>
        </p:nvSpPr>
        <p:spPr>
          <a:xfrm>
            <a:off x="6565320" y="20206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NOT CLAIMED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11"/>
          <p:cNvSpPr/>
          <p:nvPr/>
        </p:nvSpPr>
        <p:spPr>
          <a:xfrm>
            <a:off x="6501635" y="2541960"/>
            <a:ext cx="4919400" cy="242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152280" indent="-152280" defTabSz="914400">
              <a:lnSpc>
                <a:spcPct val="100000"/>
              </a:lnSpc>
              <a:buClr>
                <a:srgbClr val="2F4A5E"/>
              </a:buClr>
              <a:buFont typeface="Symbol" charset="2"/>
              <a:buChar char=""/>
            </a:pPr>
            <a:r>
              <a:rPr lang="en-US" sz="1140" b="0" u="none" strike="noStrike" dirty="0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Company-specific PLM process, data model, workflow or authority fidelity.</a:t>
            </a:r>
            <a:endParaRPr lang="en-US" sz="11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2F4A5E"/>
              </a:buClr>
              <a:buFont typeface="Symbol" charset="2"/>
              <a:buChar char=""/>
            </a:pPr>
            <a:r>
              <a:rPr lang="en-US" sz="1140" b="0" u="none" strike="noStrike" dirty="0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Enterprise PLM completeness or production deployment readiness.</a:t>
            </a:r>
            <a:endParaRPr lang="en-US" sz="11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2F4A5E"/>
              </a:buClr>
              <a:buFont typeface="Symbol" charset="2"/>
              <a:buChar char=""/>
            </a:pPr>
            <a:r>
              <a:rPr lang="en-US" sz="1140" b="0" u="none" strike="noStrike" dirty="0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General arbitrary-graph impact discovery.</a:t>
            </a:r>
            <a:endParaRPr lang="en-US" sz="11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2F4A5E"/>
              </a:buClr>
              <a:buFont typeface="Symbol" charset="2"/>
              <a:buChar char=""/>
            </a:pPr>
            <a:r>
              <a:rPr lang="en-US" sz="1140" b="0" u="none" strike="noStrike" dirty="0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Automated engineering judgement or terminal approval.</a:t>
            </a:r>
            <a:endParaRPr lang="en-US" sz="11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2F4A5E"/>
              </a:buClr>
              <a:buFont typeface="Symbol" charset="2"/>
              <a:buChar char=""/>
            </a:pPr>
            <a:r>
              <a:rPr lang="en-US" sz="1140" b="0" u="none" strike="noStrike" dirty="0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Enterprise </a:t>
            </a:r>
            <a:r>
              <a:rPr lang="en-US" sz="1140" b="0" u="none" strike="noStrike" dirty="0" err="1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programme</a:t>
            </a:r>
            <a:r>
              <a:rPr lang="en-US" sz="1140" b="0" u="none" strike="noStrike" dirty="0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, budget, workforce-capacity or </a:t>
            </a:r>
            <a:r>
              <a:rPr lang="en-US" sz="1140" b="0" u="none" strike="noStrike" dirty="0" err="1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organisational</a:t>
            </a:r>
            <a:r>
              <a:rPr lang="en-US" sz="1140" b="0" u="none" strike="noStrike" dirty="0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 authority.</a:t>
            </a:r>
            <a:endParaRPr lang="en-US" sz="11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2F4A5E"/>
              </a:buClr>
              <a:buFont typeface="Symbol" charset="2"/>
              <a:buChar char=""/>
            </a:pPr>
            <a:r>
              <a:rPr lang="en-US" sz="1140" b="0" u="none" strike="noStrike" dirty="0">
                <a:solidFill>
                  <a:srgbClr val="2F4A5E"/>
                </a:solidFill>
                <a:effectLst/>
                <a:uFillTx/>
                <a:latin typeface="Lato"/>
                <a:ea typeface="Lato"/>
              </a:rPr>
              <a:t>Downstream engineering release, manufacturing, stock or service implementation.</a:t>
            </a:r>
            <a:endParaRPr lang="en-US" sz="11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12"/>
          <p:cNvSpPr/>
          <p:nvPr/>
        </p:nvSpPr>
        <p:spPr>
          <a:xfrm>
            <a:off x="530280" y="5532120"/>
            <a:ext cx="11177520" cy="603000"/>
          </a:xfrm>
          <a:prstGeom prst="roundRect">
            <a:avLst>
              <a:gd name="adj" fmla="val 12121"/>
            </a:avLst>
          </a:prstGeom>
          <a:solidFill>
            <a:srgbClr val="20364A"/>
          </a:solidFill>
          <a:ln w="12600">
            <a:solidFill>
              <a:srgbClr val="203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13"/>
          <p:cNvSpPr/>
          <p:nvPr/>
        </p:nvSpPr>
        <p:spPr>
          <a:xfrm>
            <a:off x="564885" y="5713675"/>
            <a:ext cx="11156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FFFFFF"/>
                </a:solidFill>
                <a:effectLst/>
                <a:uFillTx/>
                <a:latin typeface="Lato"/>
                <a:ea typeface="Lato"/>
              </a:rPr>
              <a:t>Reusable method: bound the problem -&gt; freeze the meaning -&gt; implement only what the architecture requires -&gt; prove conformance through deterministic evidence.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14"/>
          <p:cNvSpPr/>
          <p:nvPr/>
        </p:nvSpPr>
        <p:spPr>
          <a:xfrm>
            <a:off x="3758040" y="6245280"/>
            <a:ext cx="4663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F7A7A"/>
                </a:solidFill>
                <a:effectLst/>
                <a:uFillTx/>
                <a:latin typeface="Lato"/>
                <a:ea typeface="Lato"/>
              </a:rPr>
              <a:t>github.com/CmdrFALCO/plm-change-impact-reference-case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1"/>
          <p:cNvSpPr>
            <a:spLocks noGrp="1"/>
          </p:cNvSpPr>
          <p:nvPr>
            <p:ph type="sldNum" idx="14"/>
          </p:nvPr>
        </p:nvSpPr>
        <p:spPr>
          <a:xfrm>
            <a:off x="11201400" y="6501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02E20D7-957F-46C4-A0F3-CA3111E1CB1F}" type="slidenum">
              <a:rPr lang="en-US" sz="750" b="0" u="none" strike="noStrike">
                <a:solidFill>
                  <a:srgbClr val="60717E"/>
                </a:solidFill>
                <a:effectLst/>
                <a:uFillTx/>
                <a:latin typeface="Lato"/>
                <a:ea typeface="Lato"/>
              </a:rPr>
              <a:t>10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1349</Words>
  <Application>Microsoft Office PowerPoint</Application>
  <PresentationFormat>Widescreen</PresentationFormat>
  <Paragraphs>298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Lato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Cristian Leu</dc:creator>
  <cp:lastModifiedBy>Leu Dumitru-Cristian</cp:lastModifiedBy>
  <cp:revision>10</cp:revision>
  <dcterms:modified xsi:type="dcterms:W3CDTF">2026-09-01T11:35:00Z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2026-09-01T10:28:44Z</dcterms:created>
  <dc:creator>Cristian Leu</dc:creator>
  <dc:description/>
  <dc:language>en-US</dc:language>
  <cp:lastModifiedBy>Cristian Leu</cp:lastModifiedBy>
  <dcterms:modified xsi:type="dcterms:W3CDTF">2026-09-01T10:28:44Z</dcterms:modified>
  <cp:revision>1</cp:revision>
  <dc:subject>Product Change Impact Assessment &amp; Decision Readiness</dc:subject>
  <dc:title>Product Change Impact Assessment &amp; Decision Readiness - Canonical Presentation v0.1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