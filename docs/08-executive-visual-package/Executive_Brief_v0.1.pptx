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7562850" cy="10688638"/>
  <p:notesSz cx="10688638" cy="756285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200" d="100"/>
          <a:sy n="200" d="100"/>
        </p:scale>
        <p:origin x="30" y="-41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1815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10689336"/>
          </a:xfrm>
          <a:prstGeom prst="rect">
            <a:avLst/>
          </a:prstGeom>
          <a:solidFill>
            <a:srgbClr val="1F7A7A"/>
          </a:solidFill>
          <a:ln w="12700">
            <a:solidFill>
              <a:srgbClr val="1F7A7A"/>
            </a:solidFill>
            <a:prstDash val="solid"/>
          </a:ln>
        </p:spPr>
      </p:sp>
      <p:sp>
        <p:nvSpPr>
          <p:cNvPr id="3" name="Text 1"/>
          <p:cNvSpPr txBox="1"/>
          <p:nvPr/>
        </p:nvSpPr>
        <p:spPr>
          <a:xfrm>
            <a:off x="457200" y="329184"/>
            <a:ext cx="6629400" cy="237744"/>
          </a:xfrm>
          <a:prstGeom prst="rect">
            <a:avLst/>
          </a:prstGeom>
          <a:noFill/>
          <a:ln/>
        </p:spPr>
        <p:txBody>
          <a:bodyPr wrap="square" lIns="0" tIns="0" rIns="0" bIns="0" rtlCol="0" anchor="t">
            <a:normAutofit/>
          </a:bodyPr>
          <a:lstStyle/>
          <a:p>
            <a:pPr marL="0" indent="0" algn="l">
              <a:lnSpc>
                <a:spcPct val="100000"/>
              </a:lnSpc>
              <a:buNone/>
            </a:pPr>
            <a:r>
              <a:rPr lang="en-US" sz="920" b="1" dirty="0">
                <a:solidFill>
                  <a:srgbClr val="1F7A7A"/>
                </a:solidFill>
                <a:latin typeface="Lato" pitchFamily="34" charset="0"/>
                <a:ea typeface="Lato" pitchFamily="34" charset="-122"/>
                <a:cs typeface="Lato" pitchFamily="34" charset="-120"/>
              </a:rPr>
              <a:t>PRODUCT CHANGE IMPACT ASSESSMENT &amp; DECISION READINESS</a:t>
            </a:r>
            <a:endParaRPr lang="en-US" sz="920" dirty="0"/>
          </a:p>
        </p:txBody>
      </p:sp>
      <p:sp>
        <p:nvSpPr>
          <p:cNvPr id="4" name="Text 2"/>
          <p:cNvSpPr txBox="1"/>
          <p:nvPr/>
        </p:nvSpPr>
        <p:spPr>
          <a:xfrm>
            <a:off x="457200" y="658368"/>
            <a:ext cx="3931920" cy="438912"/>
          </a:xfrm>
          <a:prstGeom prst="rect">
            <a:avLst/>
          </a:prstGeom>
          <a:noFill/>
          <a:ln/>
        </p:spPr>
        <p:txBody>
          <a:bodyPr wrap="square" lIns="0" tIns="0" rIns="0" bIns="0" rtlCol="0" anchor="t">
            <a:normAutofit/>
          </a:bodyPr>
          <a:lstStyle/>
          <a:p>
            <a:pPr marL="0" indent="0" algn="l">
              <a:lnSpc>
                <a:spcPct val="100000"/>
              </a:lnSpc>
              <a:buNone/>
            </a:pPr>
            <a:r>
              <a:rPr lang="en-US" sz="2700" b="1" dirty="0">
                <a:solidFill>
                  <a:srgbClr val="20364A"/>
                </a:solidFill>
                <a:latin typeface="Lato" pitchFamily="34" charset="0"/>
                <a:ea typeface="Lato" pitchFamily="34" charset="-122"/>
                <a:cs typeface="Lato" pitchFamily="34" charset="-120"/>
              </a:rPr>
              <a:t>Executive Brief</a:t>
            </a:r>
            <a:endParaRPr lang="en-US" sz="2700" dirty="0"/>
          </a:p>
        </p:txBody>
      </p:sp>
      <p:sp>
        <p:nvSpPr>
          <p:cNvPr id="5" name="Text 3"/>
          <p:cNvSpPr txBox="1"/>
          <p:nvPr/>
        </p:nvSpPr>
        <p:spPr>
          <a:xfrm>
            <a:off x="457200" y="1097280"/>
            <a:ext cx="6583680" cy="219456"/>
          </a:xfrm>
          <a:prstGeom prst="rect">
            <a:avLst/>
          </a:prstGeom>
          <a:noFill/>
          <a:ln/>
        </p:spPr>
        <p:txBody>
          <a:bodyPr wrap="square" lIns="0" tIns="0" rIns="0" bIns="0" rtlCol="0" anchor="t">
            <a:normAutofit/>
          </a:bodyPr>
          <a:lstStyle/>
          <a:p>
            <a:pPr marL="0" indent="0" algn="l">
              <a:lnSpc>
                <a:spcPct val="100000"/>
              </a:lnSpc>
              <a:buNone/>
            </a:pPr>
            <a:r>
              <a:rPr lang="en-US" sz="930" dirty="0">
                <a:solidFill>
                  <a:srgbClr val="60717E"/>
                </a:solidFill>
                <a:latin typeface="Lato" pitchFamily="34" charset="0"/>
                <a:ea typeface="Lato" pitchFamily="34" charset="-122"/>
                <a:cs typeface="Lato" pitchFamily="34" charset="-120"/>
              </a:rPr>
              <a:t>Public-safe PLM Business Architecture reference case · v0.1.0 release candidate</a:t>
            </a:r>
            <a:endParaRPr lang="en-US" sz="930" dirty="0"/>
          </a:p>
        </p:txBody>
      </p:sp>
      <p:sp>
        <p:nvSpPr>
          <p:cNvPr id="6" name="Shape 4"/>
          <p:cNvSpPr/>
          <p:nvPr/>
        </p:nvSpPr>
        <p:spPr>
          <a:xfrm>
            <a:off x="457200" y="1417320"/>
            <a:ext cx="6565392" cy="0"/>
          </a:xfrm>
          <a:prstGeom prst="line">
            <a:avLst/>
          </a:prstGeom>
          <a:noFill/>
          <a:ln w="12700">
            <a:solidFill>
              <a:srgbClr val="C9D3DA"/>
            </a:solidFill>
            <a:prstDash val="solid"/>
          </a:ln>
        </p:spPr>
      </p:sp>
      <p:sp>
        <p:nvSpPr>
          <p:cNvPr id="7" name="Shape 5"/>
          <p:cNvSpPr/>
          <p:nvPr/>
        </p:nvSpPr>
        <p:spPr>
          <a:xfrm>
            <a:off x="457200" y="1627632"/>
            <a:ext cx="6565392" cy="1078992"/>
          </a:xfrm>
          <a:prstGeom prst="roundRect">
            <a:avLst>
              <a:gd name="adj" fmla="val 6780"/>
            </a:avLst>
          </a:prstGeom>
          <a:solidFill>
            <a:srgbClr val="E5F1F0"/>
          </a:solidFill>
          <a:ln w="12700">
            <a:solidFill>
              <a:srgbClr val="BDD8D5"/>
            </a:solidFill>
            <a:prstDash val="solid"/>
          </a:ln>
        </p:spPr>
      </p:sp>
      <p:sp>
        <p:nvSpPr>
          <p:cNvPr id="8" name="Text 6"/>
          <p:cNvSpPr txBox="1"/>
          <p:nvPr/>
        </p:nvSpPr>
        <p:spPr>
          <a:xfrm>
            <a:off x="694944" y="1847088"/>
            <a:ext cx="6089904" cy="676656"/>
          </a:xfrm>
          <a:prstGeom prst="rect">
            <a:avLst/>
          </a:prstGeom>
          <a:noFill/>
          <a:ln/>
        </p:spPr>
        <p:txBody>
          <a:bodyPr wrap="square" lIns="254" tIns="254" rIns="254" bIns="254" rtlCol="0" anchor="ctr">
            <a:normAutofit fontScale="92500" lnSpcReduction="20000"/>
          </a:bodyPr>
          <a:lstStyle/>
          <a:p>
            <a:pPr marL="0" indent="0" algn="ctr">
              <a:lnSpc>
                <a:spcPct val="100000"/>
              </a:lnSpc>
              <a:buNone/>
            </a:pPr>
            <a:r>
              <a:rPr lang="en-US" sz="1450" b="1" dirty="0">
                <a:solidFill>
                  <a:srgbClr val="2F4A5E"/>
                </a:solidFill>
                <a:latin typeface="Lato" pitchFamily="34" charset="0"/>
                <a:ea typeface="Lato" pitchFamily="34" charset="-122"/>
                <a:cs typeface="Lato" pitchFamily="34" charset="-120"/>
              </a:rPr>
              <a:t>A product change becomes decision-ready only when current state, proposal, discovered impacts, domain conclusions, evidence, decision scope and authority are kept separate, and linked by deterministic, case-local and historically reconstructable rules.</a:t>
            </a:r>
            <a:endParaRPr lang="en-US" sz="1450" dirty="0"/>
          </a:p>
        </p:txBody>
      </p:sp>
      <p:sp>
        <p:nvSpPr>
          <p:cNvPr id="9" name="Text 7"/>
          <p:cNvSpPr txBox="1"/>
          <p:nvPr/>
        </p:nvSpPr>
        <p:spPr>
          <a:xfrm>
            <a:off x="457200" y="2971800"/>
            <a:ext cx="1280160" cy="219456"/>
          </a:xfrm>
          <a:prstGeom prst="rect">
            <a:avLst/>
          </a:prstGeom>
          <a:noFill/>
          <a:ln/>
        </p:spPr>
        <p:txBody>
          <a:bodyPr wrap="square" lIns="0" tIns="0" rIns="0" bIns="0" rtlCol="0" anchor="t">
            <a:normAutofit/>
          </a:bodyPr>
          <a:lstStyle/>
          <a:p>
            <a:pPr marL="0" indent="0" algn="l">
              <a:lnSpc>
                <a:spcPct val="100000"/>
              </a:lnSpc>
              <a:buNone/>
            </a:pPr>
            <a:r>
              <a:rPr lang="en-US" sz="920" b="1" dirty="0">
                <a:solidFill>
                  <a:srgbClr val="1F7A7A"/>
                </a:solidFill>
                <a:latin typeface="Lato" pitchFamily="34" charset="0"/>
                <a:ea typeface="Lato" pitchFamily="34" charset="-122"/>
                <a:cs typeface="Lato" pitchFamily="34" charset="-120"/>
              </a:rPr>
              <a:t>THE PROBLEM</a:t>
            </a:r>
            <a:endParaRPr lang="en-US" sz="920" dirty="0"/>
          </a:p>
        </p:txBody>
      </p:sp>
      <p:sp>
        <p:nvSpPr>
          <p:cNvPr id="10" name="Text 8"/>
          <p:cNvSpPr txBox="1"/>
          <p:nvPr/>
        </p:nvSpPr>
        <p:spPr>
          <a:xfrm>
            <a:off x="457200" y="3246120"/>
            <a:ext cx="6565392" cy="347472"/>
          </a:xfrm>
          <a:prstGeom prst="rect">
            <a:avLst/>
          </a:prstGeom>
          <a:noFill/>
          <a:ln/>
        </p:spPr>
        <p:txBody>
          <a:bodyPr wrap="square" lIns="0" tIns="0" rIns="0" bIns="0" rtlCol="0" anchor="t">
            <a:normAutofit fontScale="92500"/>
          </a:bodyPr>
          <a:lstStyle/>
          <a:p>
            <a:pPr marL="0" indent="0" algn="l">
              <a:lnSpc>
                <a:spcPct val="100000"/>
              </a:lnSpc>
              <a:buNone/>
            </a:pPr>
            <a:r>
              <a:rPr lang="en-US" sz="1520" b="1" dirty="0">
                <a:solidFill>
                  <a:srgbClr val="20364A"/>
                </a:solidFill>
                <a:latin typeface="Lato" pitchFamily="34" charset="0"/>
                <a:ea typeface="Lato" pitchFamily="34" charset="-122"/>
                <a:cs typeface="Lato" pitchFamily="34" charset="-120"/>
              </a:rPr>
              <a:t>Revision A -&gt; Revision B records succession, not the complete decision basis.</a:t>
            </a:r>
            <a:endParaRPr lang="en-US" sz="1520" dirty="0"/>
          </a:p>
        </p:txBody>
      </p:sp>
      <p:sp>
        <p:nvSpPr>
          <p:cNvPr id="11" name="Text 9"/>
          <p:cNvSpPr txBox="1"/>
          <p:nvPr/>
        </p:nvSpPr>
        <p:spPr>
          <a:xfrm>
            <a:off x="457200" y="3675888"/>
            <a:ext cx="6565392" cy="1078992"/>
          </a:xfrm>
          <a:prstGeom prst="rect">
            <a:avLst/>
          </a:prstGeom>
          <a:noFill/>
          <a:ln/>
        </p:spPr>
        <p:txBody>
          <a:bodyPr wrap="square" lIns="254" tIns="254" rIns="254" bIns="254" rtlCol="0" anchor="t">
            <a:normAutofit/>
          </a:bodyPr>
          <a:lstStyle/>
          <a:p>
            <a:pPr marL="0" indent="0" algn="just">
              <a:lnSpc>
                <a:spcPct val="100000"/>
              </a:lnSpc>
              <a:buNone/>
            </a:pPr>
            <a:r>
              <a:rPr lang="en-US" sz="1070" dirty="0">
                <a:solidFill>
                  <a:srgbClr val="2F4A5E"/>
                </a:solidFill>
                <a:latin typeface="Lato" pitchFamily="34" charset="0"/>
                <a:ea typeface="Lato" pitchFamily="34" charset="-122"/>
                <a:cs typeface="Lato" pitchFamily="34" charset="-120"/>
              </a:rPr>
              <a:t>It omits the exact evaluated current state, configuration and usage context, Proposed Change Scope, impact provenance, required Assessments and Evidence Uses, unresolved blockers, authority and exact Decision Scope. When these concepts are collapsed, discovered impact can be mistaken for authorised scope, Evidence for compliance, package completeness for approval permission, and escalation for a terminal Decision. </a:t>
            </a:r>
            <a:endParaRPr lang="en-US" sz="1070" dirty="0"/>
          </a:p>
        </p:txBody>
      </p:sp>
      <p:sp>
        <p:nvSpPr>
          <p:cNvPr id="12" name="Text 10"/>
          <p:cNvSpPr txBox="1"/>
          <p:nvPr/>
        </p:nvSpPr>
        <p:spPr>
          <a:xfrm>
            <a:off x="457200" y="4956048"/>
            <a:ext cx="2194560" cy="219456"/>
          </a:xfrm>
          <a:prstGeom prst="rect">
            <a:avLst/>
          </a:prstGeom>
          <a:noFill/>
          <a:ln/>
        </p:spPr>
        <p:txBody>
          <a:bodyPr wrap="square" lIns="0" tIns="0" rIns="0" bIns="0" rtlCol="0" anchor="t">
            <a:normAutofit/>
          </a:bodyPr>
          <a:lstStyle/>
          <a:p>
            <a:pPr marL="0" indent="0" algn="l">
              <a:lnSpc>
                <a:spcPct val="100000"/>
              </a:lnSpc>
              <a:buNone/>
            </a:pPr>
            <a:r>
              <a:rPr lang="en-US" sz="920" b="1" dirty="0">
                <a:solidFill>
                  <a:srgbClr val="1F7A7A"/>
                </a:solidFill>
                <a:latin typeface="Lato" pitchFamily="34" charset="0"/>
                <a:ea typeface="Lato" pitchFamily="34" charset="-122"/>
                <a:cs typeface="Lato" pitchFamily="34" charset="-120"/>
              </a:rPr>
              <a:t>THE ARCHITECTURAL RESPONSE</a:t>
            </a:r>
            <a:endParaRPr lang="en-US" sz="920" dirty="0"/>
          </a:p>
        </p:txBody>
      </p:sp>
      <p:sp>
        <p:nvSpPr>
          <p:cNvPr id="13" name="Shape 11"/>
          <p:cNvSpPr/>
          <p:nvPr/>
        </p:nvSpPr>
        <p:spPr>
          <a:xfrm>
            <a:off x="457200" y="5285232"/>
            <a:ext cx="6565392" cy="457200"/>
          </a:xfrm>
          <a:prstGeom prst="roundRect">
            <a:avLst>
              <a:gd name="adj" fmla="val 16000"/>
            </a:avLst>
          </a:prstGeom>
          <a:solidFill>
            <a:srgbClr val="EAF1F5"/>
          </a:solidFill>
          <a:ln w="12700">
            <a:solidFill>
              <a:srgbClr val="CFDCE3"/>
            </a:solidFill>
            <a:prstDash val="solid"/>
          </a:ln>
        </p:spPr>
      </p:sp>
      <p:sp>
        <p:nvSpPr>
          <p:cNvPr id="14" name="Text 12"/>
          <p:cNvSpPr txBox="1"/>
          <p:nvPr/>
        </p:nvSpPr>
        <p:spPr>
          <a:xfrm>
            <a:off x="658368" y="5376672"/>
            <a:ext cx="1463040" cy="219456"/>
          </a:xfrm>
          <a:prstGeom prst="rect">
            <a:avLst/>
          </a:prstGeom>
          <a:noFill/>
          <a:ln/>
        </p:spPr>
        <p:txBody>
          <a:bodyPr wrap="square" lIns="0" tIns="0" rIns="0" bIns="0" rtlCol="0" anchor="t">
            <a:normAutofit/>
          </a:bodyPr>
          <a:lstStyle/>
          <a:p>
            <a:pPr marL="0" indent="0" algn="l">
              <a:lnSpc>
                <a:spcPct val="100000"/>
              </a:lnSpc>
              <a:buNone/>
            </a:pPr>
            <a:r>
              <a:rPr lang="en-US" sz="1040" b="1" dirty="0">
                <a:solidFill>
                  <a:srgbClr val="3B6F8F"/>
                </a:solidFill>
                <a:latin typeface="Lato" pitchFamily="34" charset="0"/>
                <a:ea typeface="Lato" pitchFamily="34" charset="-122"/>
                <a:cs typeface="Lato" pitchFamily="34" charset="-120"/>
              </a:rPr>
              <a:t>Assessment Baseline</a:t>
            </a:r>
            <a:endParaRPr lang="en-US" sz="1040" dirty="0"/>
          </a:p>
        </p:txBody>
      </p:sp>
      <p:sp>
        <p:nvSpPr>
          <p:cNvPr id="15" name="Text 13"/>
          <p:cNvSpPr txBox="1"/>
          <p:nvPr/>
        </p:nvSpPr>
        <p:spPr>
          <a:xfrm>
            <a:off x="2139696" y="5376672"/>
            <a:ext cx="4608576" cy="219456"/>
          </a:xfrm>
          <a:prstGeom prst="rect">
            <a:avLst/>
          </a:prstGeom>
          <a:noFill/>
          <a:ln/>
        </p:spPr>
        <p:txBody>
          <a:bodyPr wrap="square" lIns="0" tIns="0" rIns="0" bIns="0" rtlCol="0" anchor="t">
            <a:normAutofit/>
          </a:bodyPr>
          <a:lstStyle/>
          <a:p>
            <a:pPr marL="0" indent="0" algn="l">
              <a:lnSpc>
                <a:spcPct val="100000"/>
              </a:lnSpc>
              <a:buNone/>
            </a:pPr>
            <a:r>
              <a:rPr lang="en-US" sz="1000" b="1" dirty="0">
                <a:solidFill>
                  <a:srgbClr val="2F4A5E"/>
                </a:solidFill>
                <a:latin typeface="Lato" pitchFamily="34" charset="0"/>
                <a:ea typeface="Lato" pitchFamily="34" charset="-122"/>
                <a:cs typeface="Lato" pitchFamily="34" charset="-120"/>
              </a:rPr>
              <a:t>immutable captured current-state basis</a:t>
            </a:r>
            <a:endParaRPr lang="en-US" sz="1000" dirty="0"/>
          </a:p>
        </p:txBody>
      </p:sp>
      <p:sp>
        <p:nvSpPr>
          <p:cNvPr id="16" name="Shape 14"/>
          <p:cNvSpPr/>
          <p:nvPr/>
        </p:nvSpPr>
        <p:spPr>
          <a:xfrm>
            <a:off x="457200" y="5870448"/>
            <a:ext cx="6565392" cy="457200"/>
          </a:xfrm>
          <a:prstGeom prst="roundRect">
            <a:avLst>
              <a:gd name="adj" fmla="val 16000"/>
            </a:avLst>
          </a:prstGeom>
          <a:solidFill>
            <a:srgbClr val="E5F1F0"/>
          </a:solidFill>
          <a:ln w="12700">
            <a:solidFill>
              <a:srgbClr val="CFDCE3"/>
            </a:solidFill>
            <a:prstDash val="solid"/>
          </a:ln>
        </p:spPr>
      </p:sp>
      <p:sp>
        <p:nvSpPr>
          <p:cNvPr id="17" name="Text 15"/>
          <p:cNvSpPr txBox="1"/>
          <p:nvPr/>
        </p:nvSpPr>
        <p:spPr>
          <a:xfrm>
            <a:off x="658368" y="5961888"/>
            <a:ext cx="1463040" cy="219456"/>
          </a:xfrm>
          <a:prstGeom prst="rect">
            <a:avLst/>
          </a:prstGeom>
          <a:noFill/>
          <a:ln/>
        </p:spPr>
        <p:txBody>
          <a:bodyPr wrap="square" lIns="0" tIns="0" rIns="0" bIns="0" rtlCol="0" anchor="t">
            <a:normAutofit/>
          </a:bodyPr>
          <a:lstStyle/>
          <a:p>
            <a:pPr marL="0" indent="0" algn="l">
              <a:lnSpc>
                <a:spcPct val="100000"/>
              </a:lnSpc>
              <a:buNone/>
            </a:pPr>
            <a:r>
              <a:rPr lang="en-US" sz="1040" b="1" dirty="0">
                <a:solidFill>
                  <a:srgbClr val="1F7A7A"/>
                </a:solidFill>
                <a:latin typeface="Lato" pitchFamily="34" charset="0"/>
                <a:ea typeface="Lato" pitchFamily="34" charset="-122"/>
                <a:cs typeface="Lato" pitchFamily="34" charset="-120"/>
              </a:rPr>
              <a:t>Versioned overlay</a:t>
            </a:r>
            <a:endParaRPr lang="en-US" sz="1040" dirty="0"/>
          </a:p>
        </p:txBody>
      </p:sp>
      <p:sp>
        <p:nvSpPr>
          <p:cNvPr id="18" name="Text 16"/>
          <p:cNvSpPr txBox="1"/>
          <p:nvPr/>
        </p:nvSpPr>
        <p:spPr>
          <a:xfrm>
            <a:off x="2139696" y="5961888"/>
            <a:ext cx="4608576" cy="219456"/>
          </a:xfrm>
          <a:prstGeom prst="rect">
            <a:avLst/>
          </a:prstGeom>
          <a:noFill/>
          <a:ln/>
        </p:spPr>
        <p:txBody>
          <a:bodyPr wrap="square" lIns="0" tIns="0" rIns="0" bIns="0" rtlCol="0" anchor="t">
            <a:normAutofit/>
          </a:bodyPr>
          <a:lstStyle/>
          <a:p>
            <a:pPr marL="0" indent="0" algn="l">
              <a:lnSpc>
                <a:spcPct val="100000"/>
              </a:lnSpc>
              <a:buNone/>
            </a:pPr>
            <a:r>
              <a:rPr lang="en-US" sz="1000" b="1" dirty="0">
                <a:solidFill>
                  <a:srgbClr val="2F4A5E"/>
                </a:solidFill>
                <a:latin typeface="Lato" pitchFamily="34" charset="0"/>
                <a:ea typeface="Lato" pitchFamily="34" charset="-122"/>
                <a:cs typeface="Lato" pitchFamily="34" charset="-120"/>
              </a:rPr>
              <a:t>exact Change Item revisions + proposed state</a:t>
            </a:r>
            <a:endParaRPr lang="en-US" sz="1000" dirty="0"/>
          </a:p>
        </p:txBody>
      </p:sp>
      <p:sp>
        <p:nvSpPr>
          <p:cNvPr id="19" name="Shape 17"/>
          <p:cNvSpPr/>
          <p:nvPr/>
        </p:nvSpPr>
        <p:spPr>
          <a:xfrm>
            <a:off x="457200" y="6455664"/>
            <a:ext cx="6565392" cy="457200"/>
          </a:xfrm>
          <a:prstGeom prst="roundRect">
            <a:avLst>
              <a:gd name="adj" fmla="val 16000"/>
            </a:avLst>
          </a:prstGeom>
          <a:solidFill>
            <a:srgbClr val="EAF1F5"/>
          </a:solidFill>
          <a:ln w="12700">
            <a:solidFill>
              <a:srgbClr val="CFDCE3"/>
            </a:solidFill>
            <a:prstDash val="solid"/>
          </a:ln>
        </p:spPr>
      </p:sp>
      <p:sp>
        <p:nvSpPr>
          <p:cNvPr id="20" name="Text 18"/>
          <p:cNvSpPr txBox="1"/>
          <p:nvPr/>
        </p:nvSpPr>
        <p:spPr>
          <a:xfrm>
            <a:off x="658368" y="6547104"/>
            <a:ext cx="1463040" cy="219456"/>
          </a:xfrm>
          <a:prstGeom prst="rect">
            <a:avLst/>
          </a:prstGeom>
          <a:noFill/>
          <a:ln/>
        </p:spPr>
        <p:txBody>
          <a:bodyPr wrap="square" lIns="0" tIns="0" rIns="0" bIns="0" rtlCol="0" anchor="t">
            <a:normAutofit/>
          </a:bodyPr>
          <a:lstStyle/>
          <a:p>
            <a:pPr marL="0" indent="0" algn="l">
              <a:lnSpc>
                <a:spcPct val="100000"/>
              </a:lnSpc>
              <a:buNone/>
            </a:pPr>
            <a:r>
              <a:rPr lang="en-US" sz="1040" b="1" dirty="0">
                <a:solidFill>
                  <a:srgbClr val="3B6F8F"/>
                </a:solidFill>
                <a:latin typeface="Lato" pitchFamily="34" charset="0"/>
                <a:ea typeface="Lato" pitchFamily="34" charset="-122"/>
                <a:cs typeface="Lato" pitchFamily="34" charset="-120"/>
              </a:rPr>
              <a:t>Impact &amp; Assessment</a:t>
            </a:r>
            <a:endParaRPr lang="en-US" sz="1040" dirty="0"/>
          </a:p>
        </p:txBody>
      </p:sp>
      <p:sp>
        <p:nvSpPr>
          <p:cNvPr id="21" name="Text 19"/>
          <p:cNvSpPr txBox="1"/>
          <p:nvPr/>
        </p:nvSpPr>
        <p:spPr>
          <a:xfrm>
            <a:off x="2139696" y="6547104"/>
            <a:ext cx="4608576" cy="219456"/>
          </a:xfrm>
          <a:prstGeom prst="rect">
            <a:avLst/>
          </a:prstGeom>
          <a:noFill/>
          <a:ln/>
        </p:spPr>
        <p:txBody>
          <a:bodyPr wrap="square" lIns="0" tIns="0" rIns="0" bIns="0" rtlCol="0" anchor="t">
            <a:normAutofit/>
          </a:bodyPr>
          <a:lstStyle/>
          <a:p>
            <a:pPr marL="0" indent="0" algn="l">
              <a:lnSpc>
                <a:spcPct val="100000"/>
              </a:lnSpc>
              <a:buNone/>
            </a:pPr>
            <a:r>
              <a:rPr lang="en-US" sz="1000" b="1" dirty="0">
                <a:solidFill>
                  <a:srgbClr val="2F4A5E"/>
                </a:solidFill>
                <a:latin typeface="Lato" pitchFamily="34" charset="0"/>
                <a:ea typeface="Lato" pitchFamily="34" charset="-122"/>
                <a:cs typeface="Lato" pitchFamily="34" charset="-120"/>
              </a:rPr>
              <a:t>provenance, obligations, conclusions and Evidence Uses</a:t>
            </a:r>
            <a:endParaRPr lang="en-US" sz="1000" dirty="0"/>
          </a:p>
        </p:txBody>
      </p:sp>
      <p:sp>
        <p:nvSpPr>
          <p:cNvPr id="22" name="Shape 20"/>
          <p:cNvSpPr/>
          <p:nvPr/>
        </p:nvSpPr>
        <p:spPr>
          <a:xfrm>
            <a:off x="457200" y="7040880"/>
            <a:ext cx="6565392" cy="457200"/>
          </a:xfrm>
          <a:prstGeom prst="roundRect">
            <a:avLst>
              <a:gd name="adj" fmla="val 16000"/>
            </a:avLst>
          </a:prstGeom>
          <a:solidFill>
            <a:srgbClr val="E5F1F0"/>
          </a:solidFill>
          <a:ln w="12700">
            <a:solidFill>
              <a:srgbClr val="CFDCE3"/>
            </a:solidFill>
            <a:prstDash val="solid"/>
          </a:ln>
        </p:spPr>
      </p:sp>
      <p:sp>
        <p:nvSpPr>
          <p:cNvPr id="23" name="Text 21"/>
          <p:cNvSpPr txBox="1"/>
          <p:nvPr/>
        </p:nvSpPr>
        <p:spPr>
          <a:xfrm>
            <a:off x="658368" y="7132320"/>
            <a:ext cx="1463040" cy="219456"/>
          </a:xfrm>
          <a:prstGeom prst="rect">
            <a:avLst/>
          </a:prstGeom>
          <a:noFill/>
          <a:ln/>
        </p:spPr>
        <p:txBody>
          <a:bodyPr wrap="square" lIns="0" tIns="0" rIns="0" bIns="0" rtlCol="0" anchor="t">
            <a:normAutofit/>
          </a:bodyPr>
          <a:lstStyle/>
          <a:p>
            <a:pPr marL="0" indent="0" algn="l">
              <a:lnSpc>
                <a:spcPct val="100000"/>
              </a:lnSpc>
              <a:buNone/>
            </a:pPr>
            <a:r>
              <a:rPr lang="en-US" sz="1040" b="1" dirty="0">
                <a:solidFill>
                  <a:srgbClr val="1F7A7A"/>
                </a:solidFill>
                <a:latin typeface="Lato" pitchFamily="34" charset="0"/>
                <a:ea typeface="Lato" pitchFamily="34" charset="-122"/>
                <a:cs typeface="Lato" pitchFamily="34" charset="-120"/>
              </a:rPr>
              <a:t>Readiness &amp; authority</a:t>
            </a:r>
            <a:endParaRPr lang="en-US" sz="1040" dirty="0"/>
          </a:p>
        </p:txBody>
      </p:sp>
      <p:sp>
        <p:nvSpPr>
          <p:cNvPr id="24" name="Text 22"/>
          <p:cNvSpPr txBox="1"/>
          <p:nvPr/>
        </p:nvSpPr>
        <p:spPr>
          <a:xfrm>
            <a:off x="2139696" y="7132320"/>
            <a:ext cx="4608576" cy="219456"/>
          </a:xfrm>
          <a:prstGeom prst="rect">
            <a:avLst/>
          </a:prstGeom>
          <a:noFill/>
          <a:ln/>
        </p:spPr>
        <p:txBody>
          <a:bodyPr wrap="square" lIns="0" tIns="0" rIns="0" bIns="0" rtlCol="0" anchor="t">
            <a:normAutofit/>
          </a:bodyPr>
          <a:lstStyle/>
          <a:p>
            <a:pPr marL="0" indent="0" algn="l">
              <a:lnSpc>
                <a:spcPct val="100000"/>
              </a:lnSpc>
              <a:buNone/>
            </a:pPr>
            <a:r>
              <a:rPr lang="en-US" sz="1000" b="1" dirty="0">
                <a:solidFill>
                  <a:srgbClr val="2F4A5E"/>
                </a:solidFill>
                <a:latin typeface="Lato" pitchFamily="34" charset="0"/>
                <a:ea typeface="Lato" pitchFamily="34" charset="-122"/>
                <a:cs typeface="Lato" pitchFamily="34" charset="-120"/>
              </a:rPr>
              <a:t>Gate B, eligibility and authority sufficiency</a:t>
            </a:r>
            <a:endParaRPr lang="en-US" sz="1000" dirty="0"/>
          </a:p>
        </p:txBody>
      </p:sp>
      <p:sp>
        <p:nvSpPr>
          <p:cNvPr id="25" name="Shape 23"/>
          <p:cNvSpPr/>
          <p:nvPr/>
        </p:nvSpPr>
        <p:spPr>
          <a:xfrm>
            <a:off x="457200" y="7626096"/>
            <a:ext cx="6565392" cy="457200"/>
          </a:xfrm>
          <a:prstGeom prst="roundRect">
            <a:avLst>
              <a:gd name="adj" fmla="val 16000"/>
            </a:avLst>
          </a:prstGeom>
          <a:solidFill>
            <a:srgbClr val="EAF1F5"/>
          </a:solidFill>
          <a:ln w="12700">
            <a:solidFill>
              <a:srgbClr val="CFDCE3"/>
            </a:solidFill>
            <a:prstDash val="solid"/>
          </a:ln>
        </p:spPr>
      </p:sp>
      <p:sp>
        <p:nvSpPr>
          <p:cNvPr id="26" name="Text 24"/>
          <p:cNvSpPr txBox="1"/>
          <p:nvPr/>
        </p:nvSpPr>
        <p:spPr>
          <a:xfrm>
            <a:off x="658368" y="7717536"/>
            <a:ext cx="1463040" cy="219456"/>
          </a:xfrm>
          <a:prstGeom prst="rect">
            <a:avLst/>
          </a:prstGeom>
          <a:noFill/>
          <a:ln/>
        </p:spPr>
        <p:txBody>
          <a:bodyPr wrap="square" lIns="0" tIns="0" rIns="0" bIns="0" rtlCol="0" anchor="t">
            <a:normAutofit/>
          </a:bodyPr>
          <a:lstStyle/>
          <a:p>
            <a:pPr marL="0" indent="0" algn="l">
              <a:lnSpc>
                <a:spcPct val="100000"/>
              </a:lnSpc>
              <a:buNone/>
            </a:pPr>
            <a:r>
              <a:rPr lang="en-US" sz="1040" b="1" dirty="0">
                <a:solidFill>
                  <a:srgbClr val="3B6F8F"/>
                </a:solidFill>
                <a:latin typeface="Lato" pitchFamily="34" charset="0"/>
                <a:ea typeface="Lato" pitchFamily="34" charset="-122"/>
                <a:cs typeface="Lato" pitchFamily="34" charset="-120"/>
              </a:rPr>
              <a:t>Decision &amp; handover</a:t>
            </a:r>
            <a:endParaRPr lang="en-US" sz="1040" dirty="0"/>
          </a:p>
        </p:txBody>
      </p:sp>
      <p:sp>
        <p:nvSpPr>
          <p:cNvPr id="27" name="Text 25"/>
          <p:cNvSpPr txBox="1"/>
          <p:nvPr/>
        </p:nvSpPr>
        <p:spPr>
          <a:xfrm>
            <a:off x="2139696" y="7717536"/>
            <a:ext cx="4608576" cy="219456"/>
          </a:xfrm>
          <a:prstGeom prst="rect">
            <a:avLst/>
          </a:prstGeom>
          <a:noFill/>
          <a:ln/>
        </p:spPr>
        <p:txBody>
          <a:bodyPr wrap="square" lIns="0" tIns="0" rIns="0" bIns="0" rtlCol="0" anchor="t">
            <a:normAutofit/>
          </a:bodyPr>
          <a:lstStyle/>
          <a:p>
            <a:pPr marL="0" indent="0" algn="l">
              <a:lnSpc>
                <a:spcPct val="100000"/>
              </a:lnSpc>
              <a:buNone/>
            </a:pPr>
            <a:r>
              <a:rPr lang="en-US" sz="1000" b="1" dirty="0">
                <a:solidFill>
                  <a:srgbClr val="2F4A5E"/>
                </a:solidFill>
                <a:latin typeface="Lato" pitchFamily="34" charset="0"/>
                <a:ea typeface="Lato" pitchFamily="34" charset="-122"/>
                <a:cs typeface="Lato" pitchFamily="34" charset="-120"/>
              </a:rPr>
              <a:t>explicit terminal disposition and derived Handover View</a:t>
            </a:r>
            <a:endParaRPr lang="en-US" sz="1000" dirty="0"/>
          </a:p>
        </p:txBody>
      </p:sp>
      <p:sp>
        <p:nvSpPr>
          <p:cNvPr id="28" name="Text 26"/>
          <p:cNvSpPr txBox="1"/>
          <p:nvPr/>
        </p:nvSpPr>
        <p:spPr>
          <a:xfrm>
            <a:off x="457200" y="8394192"/>
            <a:ext cx="2057400" cy="219456"/>
          </a:xfrm>
          <a:prstGeom prst="rect">
            <a:avLst/>
          </a:prstGeom>
          <a:noFill/>
          <a:ln/>
        </p:spPr>
        <p:txBody>
          <a:bodyPr wrap="square" lIns="0" tIns="0" rIns="0" bIns="0" rtlCol="0" anchor="t">
            <a:normAutofit/>
          </a:bodyPr>
          <a:lstStyle/>
          <a:p>
            <a:pPr marL="0" indent="0" algn="l">
              <a:lnSpc>
                <a:spcPct val="100000"/>
              </a:lnSpc>
              <a:buNone/>
            </a:pPr>
            <a:r>
              <a:rPr lang="en-US" sz="920" b="1" dirty="0">
                <a:solidFill>
                  <a:srgbClr val="1F7A7A"/>
                </a:solidFill>
                <a:latin typeface="Lato" pitchFamily="34" charset="0"/>
                <a:ea typeface="Lato" pitchFamily="34" charset="-122"/>
                <a:cs typeface="Lato" pitchFamily="34" charset="-120"/>
              </a:rPr>
              <a:t>WHAT THE SCENARIOS PROVE</a:t>
            </a:r>
            <a:endParaRPr lang="en-US" sz="920" dirty="0"/>
          </a:p>
        </p:txBody>
      </p:sp>
      <p:sp>
        <p:nvSpPr>
          <p:cNvPr id="29" name="Shape 27"/>
          <p:cNvSpPr/>
          <p:nvPr/>
        </p:nvSpPr>
        <p:spPr>
          <a:xfrm>
            <a:off x="457200" y="8631936"/>
            <a:ext cx="1335024" cy="329184"/>
          </a:xfrm>
          <a:prstGeom prst="roundRect">
            <a:avLst/>
          </a:prstGeom>
          <a:solidFill>
            <a:srgbClr val="E8F1EB"/>
          </a:solidFill>
          <a:ln w="10160">
            <a:solidFill>
              <a:srgbClr val="C5DCCB"/>
            </a:solidFill>
            <a:prstDash val="solid"/>
          </a:ln>
        </p:spPr>
      </p:sp>
      <p:sp>
        <p:nvSpPr>
          <p:cNvPr id="30" name="Text 28"/>
          <p:cNvSpPr txBox="1"/>
          <p:nvPr/>
        </p:nvSpPr>
        <p:spPr>
          <a:xfrm>
            <a:off x="512064" y="8659368"/>
            <a:ext cx="1225296" cy="274320"/>
          </a:xfrm>
          <a:prstGeom prst="rect">
            <a:avLst/>
          </a:prstGeom>
          <a:noFill/>
          <a:ln/>
        </p:spPr>
        <p:txBody>
          <a:bodyPr wrap="square" lIns="0" tIns="0" rIns="0" bIns="0" rtlCol="0" anchor="ctr">
            <a:normAutofit/>
          </a:bodyPr>
          <a:lstStyle/>
          <a:p>
            <a:pPr marL="0" indent="0" algn="ctr">
              <a:lnSpc>
                <a:spcPct val="100000"/>
              </a:lnSpc>
              <a:buNone/>
            </a:pPr>
            <a:r>
              <a:rPr lang="en-US" sz="930" b="1" dirty="0">
                <a:solidFill>
                  <a:srgbClr val="3F7D5A"/>
                </a:solidFill>
                <a:latin typeface="Lato" pitchFamily="34" charset="0"/>
                <a:ea typeface="Lato" pitchFamily="34" charset="-122"/>
                <a:cs typeface="Lato" pitchFamily="34" charset="-120"/>
              </a:rPr>
              <a:t>A · Authorised</a:t>
            </a:r>
            <a:endParaRPr lang="en-US" sz="930" dirty="0"/>
          </a:p>
        </p:txBody>
      </p:sp>
      <p:sp>
        <p:nvSpPr>
          <p:cNvPr id="31" name="Text 29"/>
          <p:cNvSpPr txBox="1"/>
          <p:nvPr/>
        </p:nvSpPr>
        <p:spPr>
          <a:xfrm>
            <a:off x="1920240" y="8650224"/>
            <a:ext cx="5102352" cy="310896"/>
          </a:xfrm>
          <a:prstGeom prst="rect">
            <a:avLst/>
          </a:prstGeom>
          <a:noFill/>
          <a:ln/>
        </p:spPr>
        <p:txBody>
          <a:bodyPr wrap="square" lIns="127" tIns="127" rIns="127" bIns="127" rtlCol="0" anchor="ctr">
            <a:normAutofit/>
          </a:bodyPr>
          <a:lstStyle/>
          <a:p>
            <a:pPr marL="0" indent="0" algn="l">
              <a:lnSpc>
                <a:spcPct val="100000"/>
              </a:lnSpc>
              <a:buNone/>
            </a:pPr>
            <a:r>
              <a:rPr lang="en-US" sz="960" dirty="0">
                <a:solidFill>
                  <a:srgbClr val="2F4A5E"/>
                </a:solidFill>
                <a:latin typeface="Lato" pitchFamily="34" charset="0"/>
                <a:ea typeface="Lato" pitchFamily="34" charset="-122"/>
                <a:cs typeface="Lato" pitchFamily="34" charset="-120"/>
              </a:rPr>
              <a:t>Complete + eligible + sufficient authority -&gt; explicit disposition -&gt; DEC-A01 -&gt; Handover.</a:t>
            </a:r>
            <a:endParaRPr lang="en-US" sz="960" dirty="0"/>
          </a:p>
        </p:txBody>
      </p:sp>
      <p:sp>
        <p:nvSpPr>
          <p:cNvPr id="32" name="Shape 30"/>
          <p:cNvSpPr/>
          <p:nvPr/>
        </p:nvSpPr>
        <p:spPr>
          <a:xfrm>
            <a:off x="457200" y="9089136"/>
            <a:ext cx="1335024" cy="329184"/>
          </a:xfrm>
          <a:prstGeom prst="roundRect">
            <a:avLst/>
          </a:prstGeom>
          <a:solidFill>
            <a:srgbClr val="F7EFE1"/>
          </a:solidFill>
          <a:ln w="10160">
            <a:solidFill>
              <a:srgbClr val="E4C999"/>
            </a:solidFill>
            <a:prstDash val="solid"/>
          </a:ln>
        </p:spPr>
      </p:sp>
      <p:sp>
        <p:nvSpPr>
          <p:cNvPr id="33" name="Text 31"/>
          <p:cNvSpPr txBox="1"/>
          <p:nvPr/>
        </p:nvSpPr>
        <p:spPr>
          <a:xfrm>
            <a:off x="512064" y="9116568"/>
            <a:ext cx="1225296" cy="274320"/>
          </a:xfrm>
          <a:prstGeom prst="rect">
            <a:avLst/>
          </a:prstGeom>
          <a:noFill/>
          <a:ln/>
        </p:spPr>
        <p:txBody>
          <a:bodyPr wrap="square" lIns="0" tIns="0" rIns="0" bIns="0" rtlCol="0" anchor="ctr">
            <a:normAutofit/>
          </a:bodyPr>
          <a:lstStyle/>
          <a:p>
            <a:pPr marL="0" indent="0" algn="ctr">
              <a:lnSpc>
                <a:spcPct val="100000"/>
              </a:lnSpc>
              <a:buNone/>
            </a:pPr>
            <a:r>
              <a:rPr lang="en-US" sz="930" b="1" dirty="0">
                <a:solidFill>
                  <a:srgbClr val="B6792A"/>
                </a:solidFill>
                <a:latin typeface="Lato" pitchFamily="34" charset="0"/>
                <a:ea typeface="Lato" pitchFamily="34" charset="-122"/>
                <a:cs typeface="Lato" pitchFamily="34" charset="-120"/>
              </a:rPr>
              <a:t>B · Scope amendment</a:t>
            </a:r>
            <a:endParaRPr lang="en-US" sz="930" dirty="0"/>
          </a:p>
        </p:txBody>
      </p:sp>
      <p:sp>
        <p:nvSpPr>
          <p:cNvPr id="34" name="Text 32"/>
          <p:cNvSpPr txBox="1"/>
          <p:nvPr/>
        </p:nvSpPr>
        <p:spPr>
          <a:xfrm>
            <a:off x="1920240" y="9107424"/>
            <a:ext cx="5102352" cy="310896"/>
          </a:xfrm>
          <a:prstGeom prst="rect">
            <a:avLst/>
          </a:prstGeom>
          <a:noFill/>
          <a:ln/>
        </p:spPr>
        <p:txBody>
          <a:bodyPr wrap="square" lIns="127" tIns="127" rIns="127" bIns="127" rtlCol="0" anchor="ctr">
            <a:normAutofit/>
          </a:bodyPr>
          <a:lstStyle/>
          <a:p>
            <a:pPr marL="0" indent="0" algn="l">
              <a:lnSpc>
                <a:spcPct val="100000"/>
              </a:lnSpc>
              <a:buNone/>
            </a:pPr>
            <a:r>
              <a:rPr lang="en-US" sz="960" dirty="0">
                <a:solidFill>
                  <a:srgbClr val="2F4A5E"/>
                </a:solidFill>
                <a:latin typeface="Lato" pitchFamily="34" charset="0"/>
                <a:ea typeface="Lato" pitchFamily="34" charset="-122"/>
                <a:cs typeface="Lato" pitchFamily="34" charset="-120"/>
              </a:rPr>
              <a:t>Discovered impact is not scope; BL-B01 is reused; two obligations remain open; no Decision.</a:t>
            </a:r>
            <a:endParaRPr lang="en-US" sz="960" dirty="0"/>
          </a:p>
        </p:txBody>
      </p:sp>
      <p:sp>
        <p:nvSpPr>
          <p:cNvPr id="35" name="Shape 33"/>
          <p:cNvSpPr/>
          <p:nvPr/>
        </p:nvSpPr>
        <p:spPr>
          <a:xfrm>
            <a:off x="457200" y="9546336"/>
            <a:ext cx="1335024" cy="329184"/>
          </a:xfrm>
          <a:prstGeom prst="roundRect">
            <a:avLst/>
          </a:prstGeom>
          <a:solidFill>
            <a:srgbClr val="EAF1F5"/>
          </a:solidFill>
          <a:ln w="10160">
            <a:solidFill>
              <a:srgbClr val="C9D8E1"/>
            </a:solidFill>
            <a:prstDash val="solid"/>
          </a:ln>
        </p:spPr>
      </p:sp>
      <p:sp>
        <p:nvSpPr>
          <p:cNvPr id="36" name="Text 34"/>
          <p:cNvSpPr txBox="1"/>
          <p:nvPr/>
        </p:nvSpPr>
        <p:spPr>
          <a:xfrm>
            <a:off x="512064" y="9573768"/>
            <a:ext cx="1225296" cy="274320"/>
          </a:xfrm>
          <a:prstGeom prst="rect">
            <a:avLst/>
          </a:prstGeom>
          <a:noFill/>
          <a:ln/>
        </p:spPr>
        <p:txBody>
          <a:bodyPr wrap="square" lIns="0" tIns="0" rIns="0" bIns="0" rtlCol="0" anchor="ctr">
            <a:normAutofit/>
          </a:bodyPr>
          <a:lstStyle/>
          <a:p>
            <a:pPr marL="0" indent="0" algn="ctr">
              <a:lnSpc>
                <a:spcPct val="100000"/>
              </a:lnSpc>
              <a:buNone/>
            </a:pPr>
            <a:r>
              <a:rPr lang="en-US" sz="930" b="1" dirty="0">
                <a:solidFill>
                  <a:srgbClr val="3B6F8F"/>
                </a:solidFill>
                <a:latin typeface="Lato" pitchFamily="34" charset="0"/>
                <a:ea typeface="Lato" pitchFamily="34" charset="-122"/>
                <a:cs typeface="Lato" pitchFamily="34" charset="-120"/>
              </a:rPr>
              <a:t>C · Escalation</a:t>
            </a:r>
            <a:endParaRPr lang="en-US" sz="930" dirty="0"/>
          </a:p>
        </p:txBody>
      </p:sp>
      <p:sp>
        <p:nvSpPr>
          <p:cNvPr id="37" name="Text 35"/>
          <p:cNvSpPr txBox="1"/>
          <p:nvPr/>
        </p:nvSpPr>
        <p:spPr>
          <a:xfrm>
            <a:off x="1920240" y="9564624"/>
            <a:ext cx="5102352" cy="310896"/>
          </a:xfrm>
          <a:prstGeom prst="rect">
            <a:avLst/>
          </a:prstGeom>
          <a:noFill/>
          <a:ln/>
        </p:spPr>
        <p:txBody>
          <a:bodyPr wrap="square" lIns="127" tIns="127" rIns="127" bIns="127" rtlCol="0" anchor="ctr">
            <a:normAutofit/>
          </a:bodyPr>
          <a:lstStyle/>
          <a:p>
            <a:pPr marL="0" indent="0" algn="l">
              <a:lnSpc>
                <a:spcPct val="100000"/>
              </a:lnSpc>
              <a:buNone/>
            </a:pPr>
            <a:r>
              <a:rPr lang="en-US" sz="960" dirty="0">
                <a:solidFill>
                  <a:srgbClr val="2F4A5E"/>
                </a:solidFill>
                <a:latin typeface="Lato" pitchFamily="34" charset="0"/>
                <a:ea typeface="Lato" pitchFamily="34" charset="-122"/>
                <a:cs typeface="Lato" pitchFamily="34" charset="-120"/>
              </a:rPr>
              <a:t>Complete and eligible package; Elevated &gt; Standard -&gt; HIST-C01; no Decision.</a:t>
            </a:r>
            <a:endParaRPr lang="en-US" sz="960" dirty="0"/>
          </a:p>
        </p:txBody>
      </p:sp>
      <p:grpSp>
        <p:nvGrpSpPr>
          <p:cNvPr id="41" name="Group 40">
            <a:extLst>
              <a:ext uri="{FF2B5EF4-FFF2-40B4-BE49-F238E27FC236}">
                <a16:creationId xmlns:a16="http://schemas.microsoft.com/office/drawing/2014/main" id="{8C60AEB4-AADA-4E8E-BC8D-E834DFDED3B0}"/>
              </a:ext>
            </a:extLst>
          </p:cNvPr>
          <p:cNvGrpSpPr/>
          <p:nvPr/>
        </p:nvGrpSpPr>
        <p:grpSpPr>
          <a:xfrm>
            <a:off x="457200" y="10094976"/>
            <a:ext cx="6565392" cy="365760"/>
            <a:chOff x="457200" y="10094976"/>
            <a:chExt cx="6565392" cy="365760"/>
          </a:xfrm>
        </p:grpSpPr>
        <p:sp>
          <p:nvSpPr>
            <p:cNvPr id="38" name="Shape 36"/>
            <p:cNvSpPr/>
            <p:nvPr/>
          </p:nvSpPr>
          <p:spPr>
            <a:xfrm>
              <a:off x="457200" y="10094976"/>
              <a:ext cx="6565392" cy="365760"/>
            </a:xfrm>
            <a:prstGeom prst="roundRect">
              <a:avLst>
                <a:gd name="adj" fmla="val 20000"/>
              </a:avLst>
            </a:prstGeom>
            <a:solidFill>
              <a:srgbClr val="20364A"/>
            </a:solidFill>
            <a:ln w="12700">
              <a:solidFill>
                <a:srgbClr val="20364A"/>
              </a:solidFill>
              <a:prstDash val="solid"/>
            </a:ln>
          </p:spPr>
        </p:sp>
        <p:sp>
          <p:nvSpPr>
            <p:cNvPr id="39" name="Text 37"/>
            <p:cNvSpPr txBox="1"/>
            <p:nvPr/>
          </p:nvSpPr>
          <p:spPr>
            <a:xfrm>
              <a:off x="621792" y="10177272"/>
              <a:ext cx="6236208" cy="201168"/>
            </a:xfrm>
            <a:prstGeom prst="rect">
              <a:avLst/>
            </a:prstGeom>
            <a:noFill/>
            <a:ln/>
          </p:spPr>
          <p:txBody>
            <a:bodyPr wrap="square" lIns="0" tIns="0" rIns="0" bIns="0" rtlCol="0" anchor="t">
              <a:normAutofit/>
            </a:bodyPr>
            <a:lstStyle/>
            <a:p>
              <a:pPr marL="0" indent="0" algn="ctr">
                <a:lnSpc>
                  <a:spcPct val="100000"/>
                </a:lnSpc>
                <a:buNone/>
              </a:pPr>
              <a:r>
                <a:rPr lang="en-US" sz="880" b="1" dirty="0">
                  <a:solidFill>
                    <a:srgbClr val="FFFFFF"/>
                  </a:solidFill>
                  <a:latin typeface="Lato" pitchFamily="34" charset="0"/>
                  <a:ea typeface="Lato" pitchFamily="34" charset="-122"/>
                  <a:cs typeface="Lato" pitchFamily="34" charset="-120"/>
                </a:rPr>
                <a:t>Prototype as proof: G00-G14 15/15 PASS · 185 regression tests · 6/6 verification groups · byte-identical evidence.</a:t>
              </a:r>
              <a:endParaRPr lang="en-US" sz="880" dirty="0"/>
            </a:p>
          </p:txBody>
        </p:sp>
      </p:grpSp>
      <p:sp>
        <p:nvSpPr>
          <p:cNvPr id="40" name="Text 38"/>
          <p:cNvSpPr txBox="1"/>
          <p:nvPr/>
        </p:nvSpPr>
        <p:spPr>
          <a:xfrm>
            <a:off x="493776" y="9912096"/>
            <a:ext cx="6492240" cy="164592"/>
          </a:xfrm>
          <a:prstGeom prst="rect">
            <a:avLst/>
          </a:prstGeom>
          <a:noFill/>
          <a:ln/>
        </p:spPr>
        <p:txBody>
          <a:bodyPr wrap="square" lIns="0" tIns="0" rIns="0" bIns="0" rtlCol="0" anchor="t">
            <a:normAutofit fontScale="85000" lnSpcReduction="10000"/>
          </a:bodyPr>
          <a:lstStyle/>
          <a:p>
            <a:pPr marL="0" indent="0" algn="ctr">
              <a:lnSpc>
                <a:spcPct val="100000"/>
              </a:lnSpc>
              <a:buNone/>
            </a:pPr>
            <a:r>
              <a:rPr lang="en-US" sz="710" dirty="0">
                <a:solidFill>
                  <a:srgbClr val="60717E"/>
                </a:solidFill>
                <a:latin typeface="Lato" pitchFamily="34" charset="0"/>
                <a:ea typeface="Lato" pitchFamily="34" charset="-122"/>
                <a:cs typeface="Lato" pitchFamily="34" charset="-120"/>
              </a:rPr>
              <a:t>Claim boundary: bounded synthetic conformance - not company-process fidelity, enterprise completeness, general graph impact discovery or automated engineering approval.</a:t>
            </a:r>
            <a:endParaRPr lang="en-US" sz="7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a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a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293</Words>
  <Application>Microsoft Office PowerPoint</Application>
  <PresentationFormat>Custom</PresentationFormat>
  <Paragraphs>28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Lato</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Brief v0.1</dc:title>
  <dc:subject>Product Change Impact Assessment &amp; Decision Readiness - Executive Brief</dc:subject>
  <dc:creator>Cristian Leu</dc:creator>
  <cp:lastModifiedBy>Leu Dumitru-Cristian</cp:lastModifiedBy>
  <cp:revision>3</cp:revision>
  <dcterms:created xsi:type="dcterms:W3CDTF">2026-09-01T10:28:44Z</dcterms:created>
  <dcterms:modified xsi:type="dcterms:W3CDTF">2026-09-01T11:35:12Z</dcterms:modified>
</cp:coreProperties>
</file>